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5"/>
  </p:notesMasterIdLst>
  <p:sldIdLst>
    <p:sldId id="256" r:id="rId2"/>
    <p:sldId id="659" r:id="rId3"/>
    <p:sldId id="639" r:id="rId4"/>
    <p:sldId id="643" r:id="rId5"/>
    <p:sldId id="647" r:id="rId6"/>
    <p:sldId id="630" r:id="rId7"/>
    <p:sldId id="650" r:id="rId8"/>
    <p:sldId id="651" r:id="rId9"/>
    <p:sldId id="660" r:id="rId10"/>
    <p:sldId id="642" r:id="rId11"/>
    <p:sldId id="652" r:id="rId12"/>
    <p:sldId id="641" r:id="rId13"/>
    <p:sldId id="64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64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F341B-D9D1-4362-9E4B-460BFA07C8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72882-7DCB-429F-9354-3D8B27DA3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6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420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852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627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040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C9B3-7298-4718-A044-57C6FCCD7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7956F-B3B6-43CA-9A62-A71E02808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87D59-D500-4FB4-8B06-225C9286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743D0-C55A-418F-A1B9-BF5FA80C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040FD-23D7-4D77-B236-6E268FEB5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C2A404-BF7C-46FC-8245-350E9884DFF4}"/>
              </a:ext>
            </a:extLst>
          </p:cNvPr>
          <p:cNvSpPr/>
          <p:nvPr/>
        </p:nvSpPr>
        <p:spPr>
          <a:xfrm>
            <a:off x="0" y="1488282"/>
            <a:ext cx="12192000" cy="16557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5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CCC6C7-7341-4E06-97E1-2D1A320AAAF7}"/>
              </a:ext>
            </a:extLst>
          </p:cNvPr>
          <p:cNvSpPr/>
          <p:nvPr/>
        </p:nvSpPr>
        <p:spPr>
          <a:xfrm>
            <a:off x="0" y="553720"/>
            <a:ext cx="12192000" cy="594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9D8B0-7EF2-4F0D-B56C-54E11A52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6890-6E81-4D43-B8A8-076612613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2B31A-50E0-4905-91CF-318C7916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E9061-FC58-4A5F-81CF-471B35E8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BE2F4-1548-4E98-9E78-A2E584BB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9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74C2-0869-45FF-B9A1-49FDDCFD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F37CC-0602-4C5F-AD3D-7E0FEF447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1DEFA-015A-4710-A767-0363EC72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384C2-B2A6-4BE5-9EEB-88F8672C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18FC0-4AD0-4C04-A984-3125B157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E9D34-9FA3-42A7-8E85-46541FBB10BA}"/>
              </a:ext>
            </a:extLst>
          </p:cNvPr>
          <p:cNvSpPr/>
          <p:nvPr/>
        </p:nvSpPr>
        <p:spPr>
          <a:xfrm>
            <a:off x="-6350" y="2308225"/>
            <a:ext cx="12192000" cy="16557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2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48F97-D434-4281-90C3-2BB2F3A84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820A6-4CB3-4C6C-AFEE-35DA6E114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45247-11E9-48F3-90A2-5A4A0E81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750C4-E203-4660-B096-22649EAD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BB528-57D4-419F-82AC-220ABCFB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CBAC3B-A912-484F-9B44-27BBDF8B9AFF}"/>
              </a:ext>
            </a:extLst>
          </p:cNvPr>
          <p:cNvSpPr/>
          <p:nvPr/>
        </p:nvSpPr>
        <p:spPr>
          <a:xfrm>
            <a:off x="0" y="553720"/>
            <a:ext cx="12192000" cy="594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6E900F7-3ED4-4E3C-B479-CFBEC880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32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AAC99-8968-422B-BA51-A30139F6F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F61BB-A528-4D55-81B4-01605FD5C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9E3E9-3C36-4EEF-BE85-C05B4C2E9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E8DB9-5D81-4021-9865-C2DCF8F54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DAC0C-50BD-4AF6-A130-6DB6108A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DAB8F8-0654-4274-BED5-8C95C2CCC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51517-3009-4924-8DC4-377C63B8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DD15CA-214A-41FA-B5A1-6A414EF05BB3}"/>
              </a:ext>
            </a:extLst>
          </p:cNvPr>
          <p:cNvSpPr/>
          <p:nvPr/>
        </p:nvSpPr>
        <p:spPr>
          <a:xfrm>
            <a:off x="0" y="553720"/>
            <a:ext cx="12192000" cy="594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CDCBE46-C813-488F-9E3D-69E47C7D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986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64AF1-81F2-4EA5-B8F2-99B1C81D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1216D-88E2-4946-AC71-46DDA8B7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6280B-8026-40A2-953E-AA7C13F3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B1349-1C12-42E2-A48E-FAF3BD5C035C}"/>
              </a:ext>
            </a:extLst>
          </p:cNvPr>
          <p:cNvSpPr/>
          <p:nvPr/>
        </p:nvSpPr>
        <p:spPr>
          <a:xfrm>
            <a:off x="0" y="553720"/>
            <a:ext cx="12192000" cy="594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207DE2-2773-4FDE-B46F-1DF57102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255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1DD8F-A704-4F85-BEE3-8E56B4EC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E4897B-1B8F-453F-8F7E-03BE9835E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387FF-4A06-4C75-B393-EDBC1051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72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4E88-BE10-4932-88CB-745D36D3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383C2-A011-4C53-91BF-32836797A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37DDB-39EC-463F-B055-A0B97A30E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E5FC1-ADD3-4C7D-83C6-1C152219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E7F63-33D6-46AB-B111-78E60EC5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356BC-9846-4383-B422-F04338AB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8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3F18-C710-469A-8723-5366A450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3AAA8-517E-43D8-94FC-E18C080EA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14C4B-A2E9-43E4-8C11-C6159F713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004CC-D2FD-490D-94A0-0318ABA4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11E31-FEF5-4B77-9D6F-43C07487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D9B96-4FCD-4F2A-AC5F-A822EA77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4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42065-CE04-4B48-9233-ED2D685D3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986B4-2850-4F34-9494-E87CB6A8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7E1D8-CE18-4E48-BD39-7DBF976FC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42245-8F8F-433E-8766-E2C714A0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E603F-2EF9-496B-A419-135EED28BB97}"/>
              </a:ext>
            </a:extLst>
          </p:cNvPr>
          <p:cNvSpPr/>
          <p:nvPr/>
        </p:nvSpPr>
        <p:spPr>
          <a:xfrm>
            <a:off x="0" y="553720"/>
            <a:ext cx="12192000" cy="594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252FFE-EDFC-4BA2-A7AE-5114DF60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768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D92A9-25B8-46F3-98A6-4CE5AD75D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95ECD-ED65-48F0-9F92-6AB7D1D67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18680-88B5-4286-8D7C-0532A9386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96B8A-D6A6-4FAD-9968-82D541F9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71F90-137D-4677-BA73-D1C042CE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04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  <a:endParaRPr lang="en-GB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  <a:endParaRPr lang="en-GB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5BA6-8AD0-4868-9547-2C1976F8CBB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2798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553E28-8339-4A28-A69C-DF5BB31531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88721" y="6261998"/>
            <a:ext cx="9852479" cy="544004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800"/>
            </a:lvl1pPr>
          </a:lstStyle>
          <a:p>
            <a:r>
              <a:rPr lang="de-DE" dirty="0">
                <a:solidFill>
                  <a:schemeClr val="bg1"/>
                </a:solidFill>
              </a:rPr>
              <a:t>1. </a:t>
            </a: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r>
              <a:rPr lang="de-DE" dirty="0">
                <a:solidFill>
                  <a:schemeClr val="bg1"/>
                </a:solidFill>
              </a:rPr>
              <a:t>  2. </a:t>
            </a: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Source: Max Mustermann (2000), Sabine Mustermann (2001)</a:t>
            </a:r>
          </a:p>
        </p:txBody>
      </p:sp>
    </p:spTree>
    <p:extLst>
      <p:ext uri="{BB962C8B-B14F-4D97-AF65-F5344CB8AC3E}">
        <p14:creationId xmlns:p14="http://schemas.microsoft.com/office/powerpoint/2010/main" val="258519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5B65C-8DCE-4330-947E-5777581A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6" y="2965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57F16-67E3-41E7-9032-1651D50AD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EB614-97E9-4CAA-9A3E-B3906AF3D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DBC35-660F-4CE9-8AB3-E80EF60B8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D1D8F-E402-480E-A245-B21A955F2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0234ED1-E95E-474D-A362-9E01E9569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7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5.svg"/><Relationship Id="rId15" Type="http://schemas.openxmlformats.org/officeDocument/2006/relationships/image" Target="../media/image19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2A1A-94C7-4301-B200-29F9CB42DE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ea typeface="CMU Concrete" panose="02000603000000000000" pitchFamily="2" charset="0"/>
                <a:cs typeface="CMU Concrete" panose="02000603000000000000" pitchFamily="2" charset="0"/>
              </a:rPr>
              <a:t>Validation Set Sampling Strategies for Predictive Process Monitoring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9787F-218B-4EED-9DFB-ED9486BC8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127" y="3670462"/>
            <a:ext cx="9144000" cy="2685887"/>
          </a:xfrm>
        </p:spPr>
        <p:txBody>
          <a:bodyPr>
            <a:normAutofit/>
          </a:bodyPr>
          <a:lstStyle/>
          <a:p>
            <a:pPr algn="l"/>
            <a:r>
              <a:rPr lang="en-US" u="sng" dirty="0"/>
              <a:t>Jari Peeperkorn</a:t>
            </a:r>
            <a:r>
              <a:rPr lang="en-US" baseline="30000" dirty="0"/>
              <a:t>1</a:t>
            </a:r>
            <a:r>
              <a:rPr lang="en-US" dirty="0"/>
              <a:t>, Seppe vanden Broucke</a:t>
            </a:r>
            <a:r>
              <a:rPr lang="en-US" baseline="30000" dirty="0"/>
              <a:t>2,1</a:t>
            </a:r>
            <a:r>
              <a:rPr lang="en-US" dirty="0"/>
              <a:t>, Jochen De Weerdt</a:t>
            </a:r>
            <a:r>
              <a:rPr lang="en-US" baseline="30000" dirty="0"/>
              <a:t>1</a:t>
            </a:r>
          </a:p>
          <a:p>
            <a:pPr algn="l"/>
            <a:endParaRPr lang="en-US" baseline="30000" dirty="0"/>
          </a:p>
          <a:p>
            <a:pPr algn="l"/>
            <a:r>
              <a:rPr lang="en-US" sz="1800" baseline="30000" dirty="0"/>
              <a:t>1 </a:t>
            </a:r>
            <a:r>
              <a:rPr lang="en-US" sz="1800" dirty="0"/>
              <a:t>Research Center for Information Systems Engineering (LIRIS), KU Leuven</a:t>
            </a:r>
            <a:br>
              <a:rPr lang="en-US" sz="1800" baseline="30000" dirty="0"/>
            </a:br>
            <a:r>
              <a:rPr lang="en-US" sz="1800" baseline="30000" dirty="0"/>
              <a:t>2 </a:t>
            </a:r>
            <a:r>
              <a:rPr lang="en-US" sz="1800" dirty="0"/>
              <a:t>Department of Business Informatics and Operations Management, </a:t>
            </a:r>
            <a:r>
              <a:rPr lang="en-US" sz="1800" dirty="0" err="1"/>
              <a:t>Ugent</a:t>
            </a:r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Information Systems (2024)</a:t>
            </a:r>
          </a:p>
          <a:p>
            <a:pPr algn="l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E5A87-6EAE-4A91-878A-BAC02F2F1E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385" y="3327400"/>
            <a:ext cx="2979615" cy="35306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3642F-689A-437D-8C6B-43548F95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F95C3-0ABD-4163-9CA2-A31CBDA1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BPM 2024 Journal First Track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F8F97-7840-4ECC-AEF8-C58689FF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32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7C06-DD26-48C3-BB46-D9DACF90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4476A-CC74-4FC9-A48B-88E346F8B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Surge in literature on Predictive Process Monitoring using ML</a:t>
            </a:r>
          </a:p>
          <a:p>
            <a:pPr marL="457200" lvl="1" indent="0">
              <a:buNone/>
            </a:pPr>
            <a:r>
              <a:rPr lang="en-US" dirty="0"/>
              <a:t>→ Evaluated using average predictive accuracy</a:t>
            </a:r>
          </a:p>
          <a:p>
            <a:endParaRPr lang="en-US" dirty="0"/>
          </a:p>
          <a:p>
            <a:r>
              <a:rPr lang="en-US" dirty="0"/>
              <a:t>Earlier work: </a:t>
            </a:r>
            <a:r>
              <a:rPr lang="en-US" i="1" dirty="0"/>
              <a:t>do these models actually learn the underlying process model structure?</a:t>
            </a:r>
          </a:p>
          <a:p>
            <a:pPr marL="457200" lvl="1" indent="0">
              <a:buNone/>
            </a:pPr>
            <a:r>
              <a:rPr lang="en-US" dirty="0"/>
              <a:t>→ Framework to obtain fitness, precision, and generalization scores</a:t>
            </a:r>
          </a:p>
          <a:p>
            <a:pPr marL="457200" lvl="1" indent="0">
              <a:buNone/>
            </a:pPr>
            <a:r>
              <a:rPr lang="en-US" dirty="0"/>
              <a:t>→ (</a:t>
            </a:r>
            <a:r>
              <a:rPr lang="en-US" i="1" dirty="0"/>
              <a:t>Stochastic</a:t>
            </a:r>
            <a:r>
              <a:rPr lang="en-US" dirty="0"/>
              <a:t>) conformance checking-like approach for evaluating predictive models</a:t>
            </a:r>
          </a:p>
          <a:p>
            <a:pPr marL="457200" lvl="1" indent="0">
              <a:buNone/>
            </a:pPr>
            <a:r>
              <a:rPr lang="en-US" dirty="0"/>
              <a:t>→ Used to evaluate LSTMs</a:t>
            </a:r>
          </a:p>
          <a:p>
            <a:pPr marL="457200" lvl="1" indent="0">
              <a:buNone/>
            </a:pPr>
            <a:r>
              <a:rPr lang="nl-BE" sz="1600" i="1" dirty="0"/>
              <a:t>Peeperkorn, J., vanden Broucke, S., De Weerdt, J. (2022). </a:t>
            </a:r>
            <a:r>
              <a:rPr lang="nl-BE" sz="1600" i="1" dirty="0" err="1"/>
              <a:t>Can</a:t>
            </a:r>
            <a:r>
              <a:rPr lang="nl-BE" sz="1600" i="1" dirty="0"/>
              <a:t> </a:t>
            </a:r>
            <a:r>
              <a:rPr lang="nl-BE" sz="1600" i="1" dirty="0" err="1"/>
              <a:t>recurrent</a:t>
            </a:r>
            <a:r>
              <a:rPr lang="nl-BE" sz="1600" i="1" dirty="0"/>
              <a:t> </a:t>
            </a:r>
            <a:r>
              <a:rPr lang="nl-BE" sz="1600" i="1" dirty="0" err="1"/>
              <a:t>neural</a:t>
            </a:r>
            <a:r>
              <a:rPr lang="nl-BE" sz="1600" i="1" dirty="0"/>
              <a:t> </a:t>
            </a:r>
            <a:r>
              <a:rPr lang="nl-BE" sz="1600" i="1" dirty="0" err="1"/>
              <a:t>networks</a:t>
            </a:r>
            <a:r>
              <a:rPr lang="nl-BE" sz="1600" i="1" dirty="0"/>
              <a:t> </a:t>
            </a:r>
            <a:r>
              <a:rPr lang="nl-BE" sz="1600" i="1" dirty="0" err="1"/>
              <a:t>learn</a:t>
            </a:r>
            <a:r>
              <a:rPr lang="nl-BE" sz="1600" i="1" dirty="0"/>
              <a:t> </a:t>
            </a:r>
            <a:r>
              <a:rPr lang="nl-BE" sz="1600" i="1" dirty="0" err="1"/>
              <a:t>process</a:t>
            </a:r>
            <a:r>
              <a:rPr lang="nl-BE" sz="1600" i="1" dirty="0"/>
              <a:t> model </a:t>
            </a:r>
            <a:r>
              <a:rPr lang="nl-BE" sz="1600" i="1" dirty="0" err="1"/>
              <a:t>structure</a:t>
            </a:r>
            <a:r>
              <a:rPr lang="nl-BE" sz="1600" i="1" dirty="0"/>
              <a:t>? Journal Of Intelligent Information Systems. </a:t>
            </a:r>
            <a:endParaRPr lang="en-US" sz="3600" i="1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DB50-E15E-4DF9-BA14-253170CB1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F0088-21C2-45C3-89DC-037787E3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69EBF-ACC2-4307-98BE-4636333B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8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F63D-D7D9-4B91-918C-C9008EEE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1125864" cy="1325563"/>
          </a:xfrm>
        </p:spPr>
        <p:txBody>
          <a:bodyPr>
            <a:normAutofit/>
          </a:bodyPr>
          <a:lstStyle/>
          <a:p>
            <a:r>
              <a:rPr lang="en-US" sz="2200" dirty="0">
                <a:ea typeface="CMU Concrete" panose="02000603000000000000" pitchFamily="2" charset="0"/>
                <a:cs typeface="CMU Concrete" panose="02000603000000000000" pitchFamily="2" charset="0"/>
              </a:rPr>
              <a:t>Metrics for next activity prediction models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EBA71-D95D-4B74-98DA-4BB8C63F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3158-AEA5-4C4E-9029-919E0224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9A76-91B0-49AB-814D-65D58EF2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CB4E-FF43-4600-8835-53A01F396434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E811F58-9159-46AD-AFC7-60E29A19F34C}"/>
              </a:ext>
            </a:extLst>
          </p:cNvPr>
          <p:cNvSpPr txBox="1">
            <a:spLocks/>
          </p:cNvSpPr>
          <p:nvPr/>
        </p:nvSpPr>
        <p:spPr>
          <a:xfrm>
            <a:off x="501341" y="2707912"/>
            <a:ext cx="10752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Event Log</a:t>
            </a:r>
            <a:endParaRPr lang="en-GB" sz="1800" dirty="0">
              <a:latin typeface="+mn-lt"/>
            </a:endParaRPr>
          </a:p>
        </p:txBody>
      </p:sp>
      <p:pic>
        <p:nvPicPr>
          <p:cNvPr id="8" name="Graphic 7" descr="Table">
            <a:extLst>
              <a:ext uri="{FF2B5EF4-FFF2-40B4-BE49-F238E27FC236}">
                <a16:creationId xmlns:a16="http://schemas.microsoft.com/office/drawing/2014/main" id="{AE4785F2-3AC6-43E5-AA19-317122DD6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524" y="3114562"/>
            <a:ext cx="628877" cy="62887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9E8BCE-1CD7-42B5-A7B9-3BAF7E0D2316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353401" y="3429000"/>
            <a:ext cx="504169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8ED83B-7930-4CFD-BE59-4793F776E499}"/>
              </a:ext>
            </a:extLst>
          </p:cNvPr>
          <p:cNvSpPr txBox="1"/>
          <p:nvPr/>
        </p:nvSpPr>
        <p:spPr>
          <a:xfrm>
            <a:off x="1857570" y="3097108"/>
            <a:ext cx="3732290" cy="646331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Variant-Based Resampling</a:t>
            </a:r>
            <a:r>
              <a:rPr kumimoji="0" lang="en-US" sz="18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kern="0" dirty="0">
                <a:solidFill>
                  <a:prstClr val="black"/>
                </a:solidFill>
                <a:latin typeface="Calibri" panose="020F0502020204030204"/>
              </a:rPr>
              <a:t>Take out a % of </a:t>
            </a:r>
            <a:r>
              <a:rPr lang="en-US" i="1" u="sng" kern="0" dirty="0">
                <a:solidFill>
                  <a:prstClr val="black"/>
                </a:solidFill>
                <a:latin typeface="Calibri" panose="020F0502020204030204"/>
              </a:rPr>
              <a:t>control-flow variants</a:t>
            </a:r>
            <a:endParaRPr kumimoji="0" lang="en-US" sz="1800" b="0" i="1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61DF8C6-1924-4DE0-89FE-4FFB86B712F6}"/>
              </a:ext>
            </a:extLst>
          </p:cNvPr>
          <p:cNvSpPr txBox="1">
            <a:spLocks/>
          </p:cNvSpPr>
          <p:nvPr/>
        </p:nvSpPr>
        <p:spPr>
          <a:xfrm>
            <a:off x="6086670" y="1633195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Training Log</a:t>
            </a:r>
            <a:endParaRPr lang="en-GB" sz="1800" dirty="0">
              <a:latin typeface="+mn-lt"/>
            </a:endParaRPr>
          </a:p>
        </p:txBody>
      </p:sp>
      <p:pic>
        <p:nvPicPr>
          <p:cNvPr id="16" name="Graphic 15" descr="Table">
            <a:extLst>
              <a:ext uri="{FF2B5EF4-FFF2-40B4-BE49-F238E27FC236}">
                <a16:creationId xmlns:a16="http://schemas.microsoft.com/office/drawing/2014/main" id="{C6B1A20F-C73B-4451-884A-F91D55F06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4279" y="2055598"/>
            <a:ext cx="628877" cy="628877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CB26BE11-22E0-4003-BD4F-678DBB621563}"/>
              </a:ext>
            </a:extLst>
          </p:cNvPr>
          <p:cNvSpPr txBox="1">
            <a:spLocks/>
          </p:cNvSpPr>
          <p:nvPr/>
        </p:nvSpPr>
        <p:spPr>
          <a:xfrm>
            <a:off x="6059178" y="4518010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Test Log</a:t>
            </a:r>
            <a:endParaRPr lang="en-GB" sz="1800" dirty="0">
              <a:latin typeface="+mn-lt"/>
            </a:endParaRPr>
          </a:p>
        </p:txBody>
      </p:sp>
      <p:pic>
        <p:nvPicPr>
          <p:cNvPr id="19" name="Graphic 18" descr="Table">
            <a:extLst>
              <a:ext uri="{FF2B5EF4-FFF2-40B4-BE49-F238E27FC236}">
                <a16:creationId xmlns:a16="http://schemas.microsoft.com/office/drawing/2014/main" id="{A4F361EE-8813-4FD5-BEFC-22C0566670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4279" y="4202306"/>
            <a:ext cx="628877" cy="62887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8D0E79-3F6A-4F23-9061-3C1C10E54082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5589860" y="2370037"/>
            <a:ext cx="804419" cy="105023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B23632-BBE5-4295-9E06-1E2E582E8208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5589860" y="3420274"/>
            <a:ext cx="804419" cy="109647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67CD6AD-7EB9-4BB9-8E32-C99709AF5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085" y="2080446"/>
            <a:ext cx="1442508" cy="46084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BF0D77-26A9-45C0-83AF-CD5D5B476880}"/>
              </a:ext>
            </a:extLst>
          </p:cNvPr>
          <p:cNvCxnSpPr>
            <a:cxnSpLocks/>
          </p:cNvCxnSpPr>
          <p:nvPr/>
        </p:nvCxnSpPr>
        <p:spPr>
          <a:xfrm flipV="1">
            <a:off x="7189236" y="2356041"/>
            <a:ext cx="1940769" cy="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10EBE40-F414-4803-9D61-722BD14C81CF}"/>
              </a:ext>
            </a:extLst>
          </p:cNvPr>
          <p:cNvSpPr txBox="1"/>
          <p:nvPr/>
        </p:nvSpPr>
        <p:spPr>
          <a:xfrm>
            <a:off x="8010330" y="1645305"/>
            <a:ext cx="3685363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Train LSTM on next activity prediction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D0D287-95E6-456C-A7CE-929CA6E24550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0017339" y="2541291"/>
            <a:ext cx="0" cy="15826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F6A8BDE7-C21C-430C-8942-AA92678273AE}"/>
              </a:ext>
            </a:extLst>
          </p:cNvPr>
          <p:cNvSpPr txBox="1">
            <a:spLocks/>
          </p:cNvSpPr>
          <p:nvPr/>
        </p:nvSpPr>
        <p:spPr>
          <a:xfrm>
            <a:off x="9214906" y="4518010"/>
            <a:ext cx="160486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Simulated Log</a:t>
            </a:r>
            <a:endParaRPr lang="en-GB" sz="1800" dirty="0">
              <a:latin typeface="+mn-lt"/>
            </a:endParaRPr>
          </a:p>
        </p:txBody>
      </p:sp>
      <p:pic>
        <p:nvPicPr>
          <p:cNvPr id="39" name="Graphic 38" descr="Table">
            <a:extLst>
              <a:ext uri="{FF2B5EF4-FFF2-40B4-BE49-F238E27FC236}">
                <a16:creationId xmlns:a16="http://schemas.microsoft.com/office/drawing/2014/main" id="{5A2023AF-7883-4BC4-AD44-FE1502B1FC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02901" y="4202306"/>
            <a:ext cx="628877" cy="62887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3936265-B574-4957-855E-4B9BAFAD6DD8}"/>
              </a:ext>
            </a:extLst>
          </p:cNvPr>
          <p:cNvSpPr txBox="1"/>
          <p:nvPr/>
        </p:nvSpPr>
        <p:spPr>
          <a:xfrm>
            <a:off x="10198972" y="3191673"/>
            <a:ext cx="1079242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Simulate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1B68F-FDB3-490B-B3DA-257D71481EC0}"/>
              </a:ext>
            </a:extLst>
          </p:cNvPr>
          <p:cNvSpPr txBox="1"/>
          <p:nvPr/>
        </p:nvSpPr>
        <p:spPr>
          <a:xfrm>
            <a:off x="7476320" y="2710756"/>
            <a:ext cx="24039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Take empty (BOS) case</a:t>
            </a:r>
          </a:p>
          <a:p>
            <a:r>
              <a:rPr lang="en-US" sz="1400" i="1" dirty="0"/>
              <a:t>→ Predict activity</a:t>
            </a:r>
          </a:p>
          <a:p>
            <a:r>
              <a:rPr lang="en-US" sz="1400" i="1" dirty="0"/>
              <a:t>→ Sample from probabilities</a:t>
            </a:r>
          </a:p>
          <a:p>
            <a:r>
              <a:rPr lang="en-US" sz="1400" i="1" dirty="0"/>
              <a:t>→ Add to case</a:t>
            </a:r>
          </a:p>
          <a:p>
            <a:r>
              <a:rPr lang="en-US" sz="1400" i="1" dirty="0"/>
              <a:t>→ Predict activity</a:t>
            </a:r>
          </a:p>
          <a:p>
            <a:r>
              <a:rPr lang="en-US" sz="1400" i="1" dirty="0"/>
              <a:t>→ ….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DC255-499B-4901-A796-A1B1319F14C1}"/>
              </a:ext>
            </a:extLst>
          </p:cNvPr>
          <p:cNvSpPr txBox="1"/>
          <p:nvPr/>
        </p:nvSpPr>
        <p:spPr>
          <a:xfrm>
            <a:off x="359607" y="1360619"/>
            <a:ext cx="1471526" cy="892552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MU Serif" panose="02000603000000000000" pitchFamily="2" charset="0"/>
                <a:cs typeface="Calibri" panose="020F0502020204030204" pitchFamily="34" charset="0"/>
              </a:rPr>
              <a:t>Process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920A6B-901D-48AB-9B95-73FCAE9E57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912" y="1755032"/>
            <a:ext cx="1355557" cy="282285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4632438-E389-4BF6-8ABD-09E3245D26F9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095370" y="2253171"/>
            <a:ext cx="0" cy="64634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5116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5" grpId="0"/>
      <p:bldP spid="18" grpId="0"/>
      <p:bldP spid="33" grpId="0"/>
      <p:bldP spid="38" grpId="0"/>
      <p:bldP spid="40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F63D-D7D9-4B91-918C-C9008EEE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1125864" cy="1325563"/>
          </a:xfrm>
        </p:spPr>
        <p:txBody>
          <a:bodyPr>
            <a:normAutofit/>
          </a:bodyPr>
          <a:lstStyle/>
          <a:p>
            <a:r>
              <a:rPr lang="en-US" sz="2200" dirty="0">
                <a:ea typeface="CMU Concrete" panose="02000603000000000000" pitchFamily="2" charset="0"/>
                <a:cs typeface="CMU Concrete" panose="02000603000000000000" pitchFamily="2" charset="0"/>
              </a:rPr>
              <a:t>Metrics for next activity prediction models</a:t>
            </a:r>
            <a:endParaRPr lang="en-US" sz="2200" dirty="0">
              <a:solidFill>
                <a:srgbClr val="C00000"/>
              </a:solidFill>
              <a:ea typeface="CMU Concrete" panose="02000603000000000000" pitchFamily="2" charset="0"/>
              <a:cs typeface="CMU Concrete" panose="02000603000000000000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EBA71-D95D-4B74-98DA-4BB8C63F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3158-AEA5-4C4E-9029-919E0224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9A76-91B0-49AB-814D-65D58EF2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CB4E-FF43-4600-8835-53A01F396434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E811F58-9159-46AD-AFC7-60E29A19F34C}"/>
              </a:ext>
            </a:extLst>
          </p:cNvPr>
          <p:cNvSpPr txBox="1">
            <a:spLocks/>
          </p:cNvSpPr>
          <p:nvPr/>
        </p:nvSpPr>
        <p:spPr>
          <a:xfrm>
            <a:off x="524667" y="2711201"/>
            <a:ext cx="10752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Event Log</a:t>
            </a:r>
            <a:endParaRPr lang="en-GB" sz="1800" dirty="0">
              <a:latin typeface="+mn-lt"/>
            </a:endParaRPr>
          </a:p>
        </p:txBody>
      </p:sp>
      <p:pic>
        <p:nvPicPr>
          <p:cNvPr id="8" name="Graphic 7" descr="Table">
            <a:extLst>
              <a:ext uri="{FF2B5EF4-FFF2-40B4-BE49-F238E27FC236}">
                <a16:creationId xmlns:a16="http://schemas.microsoft.com/office/drawing/2014/main" id="{AE4785F2-3AC6-43E5-AA19-317122DD6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850" y="3117851"/>
            <a:ext cx="628877" cy="62887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9E8BCE-1CD7-42B5-A7B9-3BAF7E0D2316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1376727" y="3432289"/>
            <a:ext cx="398587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8ED83B-7930-4CFD-BE59-4793F776E499}"/>
              </a:ext>
            </a:extLst>
          </p:cNvPr>
          <p:cNvSpPr txBox="1"/>
          <p:nvPr/>
        </p:nvSpPr>
        <p:spPr>
          <a:xfrm>
            <a:off x="1775314" y="3247623"/>
            <a:ext cx="1298455" cy="369332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Resampling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61DF8C6-1924-4DE0-89FE-4FFB86B712F6}"/>
              </a:ext>
            </a:extLst>
          </p:cNvPr>
          <p:cNvSpPr txBox="1">
            <a:spLocks/>
          </p:cNvSpPr>
          <p:nvPr/>
        </p:nvSpPr>
        <p:spPr>
          <a:xfrm>
            <a:off x="3268901" y="1693984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Training Log</a:t>
            </a:r>
            <a:endParaRPr lang="en-GB" sz="1800" dirty="0">
              <a:latin typeface="+mn-lt"/>
            </a:endParaRPr>
          </a:p>
        </p:txBody>
      </p:sp>
      <p:pic>
        <p:nvPicPr>
          <p:cNvPr id="16" name="Graphic 15" descr="Table">
            <a:extLst>
              <a:ext uri="{FF2B5EF4-FFF2-40B4-BE49-F238E27FC236}">
                <a16:creationId xmlns:a16="http://schemas.microsoft.com/office/drawing/2014/main" id="{C6B1A20F-C73B-4451-884A-F91D55F06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6510" y="2116387"/>
            <a:ext cx="628877" cy="628877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CB26BE11-22E0-4003-BD4F-678DBB621563}"/>
              </a:ext>
            </a:extLst>
          </p:cNvPr>
          <p:cNvSpPr txBox="1">
            <a:spLocks/>
          </p:cNvSpPr>
          <p:nvPr/>
        </p:nvSpPr>
        <p:spPr>
          <a:xfrm>
            <a:off x="3241409" y="4578799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Test Log</a:t>
            </a:r>
            <a:endParaRPr lang="en-GB" sz="1800" dirty="0">
              <a:latin typeface="+mn-lt"/>
            </a:endParaRPr>
          </a:p>
        </p:txBody>
      </p:sp>
      <p:pic>
        <p:nvPicPr>
          <p:cNvPr id="19" name="Graphic 18" descr="Table">
            <a:extLst>
              <a:ext uri="{FF2B5EF4-FFF2-40B4-BE49-F238E27FC236}">
                <a16:creationId xmlns:a16="http://schemas.microsoft.com/office/drawing/2014/main" id="{A4F361EE-8813-4FD5-BEFC-22C0566670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76510" y="4263095"/>
            <a:ext cx="628877" cy="62887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8D0E79-3F6A-4F23-9061-3C1C10E54082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3073769" y="2430826"/>
            <a:ext cx="502741" cy="100146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B23632-BBE5-4295-9E06-1E2E582E8208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3073769" y="3432289"/>
            <a:ext cx="502741" cy="114524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67CD6AD-7EB9-4BB9-8E32-C99709AF5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81" y="2125418"/>
            <a:ext cx="1442508" cy="46084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BF0D77-26A9-45C0-83AF-CD5D5B476880}"/>
              </a:ext>
            </a:extLst>
          </p:cNvPr>
          <p:cNvCxnSpPr>
            <a:cxnSpLocks/>
          </p:cNvCxnSpPr>
          <p:nvPr/>
        </p:nvCxnSpPr>
        <p:spPr>
          <a:xfrm flipV="1">
            <a:off x="4371467" y="2416832"/>
            <a:ext cx="1318651" cy="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10EBE40-F414-4803-9D61-722BD14C81CF}"/>
              </a:ext>
            </a:extLst>
          </p:cNvPr>
          <p:cNvSpPr txBox="1"/>
          <p:nvPr/>
        </p:nvSpPr>
        <p:spPr>
          <a:xfrm>
            <a:off x="5923894" y="1744603"/>
            <a:ext cx="1299080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Train LSTM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D0D287-95E6-456C-A7CE-929CA6E24550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6573435" y="2586263"/>
            <a:ext cx="0" cy="15826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F6A8BDE7-C21C-430C-8942-AA92678273AE}"/>
              </a:ext>
            </a:extLst>
          </p:cNvPr>
          <p:cNvSpPr txBox="1">
            <a:spLocks/>
          </p:cNvSpPr>
          <p:nvPr/>
        </p:nvSpPr>
        <p:spPr>
          <a:xfrm>
            <a:off x="5771002" y="4562982"/>
            <a:ext cx="160486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Simulated Log</a:t>
            </a:r>
            <a:endParaRPr lang="en-GB" sz="1800" dirty="0">
              <a:latin typeface="+mn-lt"/>
            </a:endParaRPr>
          </a:p>
        </p:txBody>
      </p:sp>
      <p:pic>
        <p:nvPicPr>
          <p:cNvPr id="39" name="Graphic 38" descr="Table">
            <a:extLst>
              <a:ext uri="{FF2B5EF4-FFF2-40B4-BE49-F238E27FC236}">
                <a16:creationId xmlns:a16="http://schemas.microsoft.com/office/drawing/2014/main" id="{5A2023AF-7883-4BC4-AD44-FE1502B1FC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58997" y="4247278"/>
            <a:ext cx="628877" cy="62887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128C6A7-8755-4269-95A9-870B239EC2EB}"/>
              </a:ext>
            </a:extLst>
          </p:cNvPr>
          <p:cNvSpPr txBox="1"/>
          <p:nvPr/>
        </p:nvSpPr>
        <p:spPr>
          <a:xfrm>
            <a:off x="8097121" y="2462793"/>
            <a:ext cx="3890852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Training Log Variants </a:t>
            </a:r>
            <a:r>
              <a:rPr lang="en-US" b="1" dirty="0"/>
              <a:t>⊆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Simulated Log</a:t>
            </a:r>
          </a:p>
          <a:p>
            <a:r>
              <a:rPr lang="en-US" b="1" dirty="0"/>
              <a:t>→ Fitness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Simulated Log Variants </a:t>
            </a:r>
            <a:r>
              <a:rPr lang="en-US" b="1" dirty="0"/>
              <a:t>⊆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Event Log</a:t>
            </a:r>
          </a:p>
          <a:p>
            <a:r>
              <a:rPr lang="en-US" b="1" dirty="0"/>
              <a:t>→Precision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Test Log Variants </a:t>
            </a:r>
            <a:r>
              <a:rPr lang="en-US" b="1" dirty="0"/>
              <a:t>⊆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Simulated Log</a:t>
            </a:r>
          </a:p>
          <a:p>
            <a:r>
              <a:rPr lang="en-US" b="1" dirty="0"/>
              <a:t>→ Generalization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CCB15FB-2ED4-48BE-98DE-CD022F923A05}"/>
              </a:ext>
            </a:extLst>
          </p:cNvPr>
          <p:cNvSpPr/>
          <p:nvPr/>
        </p:nvSpPr>
        <p:spPr>
          <a:xfrm>
            <a:off x="5776823" y="4041076"/>
            <a:ext cx="1599044" cy="140714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A19AAE8-A82C-4E02-8F28-5C7580655BF5}"/>
              </a:ext>
            </a:extLst>
          </p:cNvPr>
          <p:cNvSpPr/>
          <p:nvPr/>
        </p:nvSpPr>
        <p:spPr>
          <a:xfrm>
            <a:off x="3091427" y="4002733"/>
            <a:ext cx="1599044" cy="140714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C9D9EC2-1DEF-487D-9120-EBEA00F36161}"/>
              </a:ext>
            </a:extLst>
          </p:cNvPr>
          <p:cNvSpPr/>
          <p:nvPr/>
        </p:nvSpPr>
        <p:spPr>
          <a:xfrm>
            <a:off x="3118919" y="1569404"/>
            <a:ext cx="1599044" cy="140714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42B506A-0B01-4A21-B70F-BBDB82E33A77}"/>
              </a:ext>
            </a:extLst>
          </p:cNvPr>
          <p:cNvSpPr/>
          <p:nvPr/>
        </p:nvSpPr>
        <p:spPr>
          <a:xfrm>
            <a:off x="238862" y="2633935"/>
            <a:ext cx="1599044" cy="140714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9DB44C-B37E-436D-94B9-E4D5D63F2D76}"/>
              </a:ext>
            </a:extLst>
          </p:cNvPr>
          <p:cNvSpPr txBox="1"/>
          <p:nvPr/>
        </p:nvSpPr>
        <p:spPr>
          <a:xfrm>
            <a:off x="299001" y="1439346"/>
            <a:ext cx="1471526" cy="892552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MU Serif" panose="02000603000000000000" pitchFamily="2" charset="0"/>
                <a:cs typeface="Calibri" panose="020F0502020204030204" pitchFamily="34" charset="0"/>
              </a:rPr>
              <a:t>Process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F542D9-97D9-4913-8FF7-11EEB9E3DC45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1034764" y="2331898"/>
            <a:ext cx="0" cy="64634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05BC090A-7A42-44FD-846B-3DB5E6FF2C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306" y="1833759"/>
            <a:ext cx="1355557" cy="2822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889C77-BE66-4BEA-B000-7EF9101BCDC6}"/>
              </a:ext>
            </a:extLst>
          </p:cNvPr>
          <p:cNvSpPr txBox="1"/>
          <p:nvPr/>
        </p:nvSpPr>
        <p:spPr>
          <a:xfrm>
            <a:off x="8111837" y="5009735"/>
            <a:ext cx="324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+ Take occurrences into account</a:t>
            </a:r>
          </a:p>
        </p:txBody>
      </p:sp>
    </p:spTree>
    <p:extLst>
      <p:ext uri="{BB962C8B-B14F-4D97-AF65-F5344CB8AC3E}">
        <p14:creationId xmlns:p14="http://schemas.microsoft.com/office/powerpoint/2010/main" val="3291414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5" grpId="1" animBg="1"/>
      <p:bldP spid="46" grpId="0" animBg="1"/>
      <p:bldP spid="46" grpId="1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6262F7-EAFC-427E-ACC0-5EFA997080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11" b="5034"/>
          <a:stretch/>
        </p:blipFill>
        <p:spPr>
          <a:xfrm>
            <a:off x="5840948" y="1932927"/>
            <a:ext cx="6351052" cy="1170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DEF63D-D7D9-4B91-918C-C9008EEE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1125864" cy="1325563"/>
          </a:xfrm>
        </p:spPr>
        <p:txBody>
          <a:bodyPr>
            <a:normAutofit/>
          </a:bodyPr>
          <a:lstStyle/>
          <a:p>
            <a:r>
              <a:rPr lang="en-US" sz="2400" dirty="0"/>
              <a:t>Validation Set Sampling</a:t>
            </a:r>
            <a:endParaRPr lang="en-US" sz="2200" dirty="0">
              <a:solidFill>
                <a:srgbClr val="C00000"/>
              </a:solidFill>
              <a:ea typeface="CMU Concrete" panose="02000603000000000000" pitchFamily="2" charset="0"/>
              <a:cs typeface="CMU Concrete" panose="02000603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242DE-F793-4958-81F7-2F6147564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2927"/>
            <a:ext cx="10515600" cy="38380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LSTMs have problems with generalizing process behavior</a:t>
            </a:r>
          </a:p>
          <a:p>
            <a:pPr marL="457200" lvl="1" indent="0">
              <a:buNone/>
            </a:pPr>
            <a:r>
              <a:rPr lang="en-US" dirty="0"/>
              <a:t>→ Especially issues with parallel behavior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Tuning your hyperparameters can mitigate these issues</a:t>
            </a:r>
          </a:p>
          <a:p>
            <a:pPr marL="457200" lvl="1" indent="0">
              <a:buNone/>
            </a:pPr>
            <a:r>
              <a:rPr lang="en-US" dirty="0"/>
              <a:t>→ </a:t>
            </a:r>
            <a:r>
              <a:rPr lang="en-US" dirty="0">
                <a:ea typeface="CMU Concrete" panose="02000603000000000000" pitchFamily="2" charset="0"/>
                <a:cs typeface="CMU Concrete" panose="02000603000000000000" pitchFamily="2" charset="0"/>
              </a:rPr>
              <a:t>Dropout, regularization</a:t>
            </a:r>
          </a:p>
          <a:p>
            <a:pPr marL="457200" lvl="1" indent="0">
              <a:buNone/>
            </a:pPr>
            <a:r>
              <a:rPr lang="en-US" dirty="0">
                <a:ea typeface="CMU Concrete" panose="02000603000000000000" pitchFamily="2" charset="0"/>
                <a:cs typeface="CMU Concrete" panose="02000603000000000000" pitchFamily="2" charset="0"/>
              </a:rPr>
              <a:t>→ Optimal hyperparameter settings were obtained in a non-realistic post-hoc method </a:t>
            </a:r>
          </a:p>
          <a:p>
            <a:pPr marL="457200" lvl="1" indent="0">
              <a:buNone/>
            </a:pPr>
            <a:endParaRPr lang="en-US" dirty="0">
              <a:ea typeface="CMU Concrete" panose="02000603000000000000" pitchFamily="2" charset="0"/>
              <a:cs typeface="CMU Concrete" panose="02000603000000000000" pitchFamily="2" charset="0"/>
            </a:endParaRPr>
          </a:p>
          <a:p>
            <a:r>
              <a:rPr lang="en-US" dirty="0"/>
              <a:t>Need for practical suggestions</a:t>
            </a:r>
          </a:p>
          <a:p>
            <a:endParaRPr lang="en-US" dirty="0"/>
          </a:p>
          <a:p>
            <a:r>
              <a:rPr lang="en-US" dirty="0"/>
              <a:t>Different validation set approaches</a:t>
            </a:r>
          </a:p>
          <a:p>
            <a:pPr marL="457200" lvl="1" indent="0">
              <a:buNone/>
            </a:pPr>
            <a:r>
              <a:rPr lang="en-US" dirty="0"/>
              <a:t>→ Sampling random cases + sampling based on control-flow variants</a:t>
            </a:r>
          </a:p>
          <a:p>
            <a:pPr marL="457200" lvl="1" indent="0">
              <a:buNone/>
            </a:pPr>
            <a:r>
              <a:rPr lang="en-US" dirty="0"/>
              <a:t>→ Used for both hyperparameter selection and early stopping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>
              <a:ea typeface="CMU Concrete" panose="02000603000000000000" pitchFamily="2" charset="0"/>
              <a:cs typeface="CMU Concrete" panose="02000603000000000000" pitchFamily="2" charset="0"/>
            </a:endParaRPr>
          </a:p>
          <a:p>
            <a:pPr marL="457200" lvl="1" indent="0">
              <a:buNone/>
            </a:pPr>
            <a:endParaRPr lang="en-US" dirty="0">
              <a:ea typeface="CMU Concrete" panose="02000603000000000000" pitchFamily="2" charset="0"/>
              <a:cs typeface="CMU Concrete" panose="02000603000000000000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EBA71-D95D-4B74-98DA-4BB8C63F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3158-AEA5-4C4E-9029-919E0224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9A76-91B0-49AB-814D-65D58EF2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CB4E-FF43-4600-8835-53A01F396434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641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D944BA-2953-4D54-9FCD-54BD3CB11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Motivation</a:t>
            </a:r>
            <a:endParaRPr lang="en-GB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2C03BF-15FD-4195-8816-ECBD432A5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74964"/>
            <a:ext cx="10515600" cy="30807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6C9DF-C00A-4790-B507-0ED54218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40756F-79DF-4704-8592-EA827193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BPM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C2DC1-ADBE-4C89-9671-2FC077CE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E53A4-8CC9-480F-A7EC-84C7E24C5DE6}"/>
              </a:ext>
            </a:extLst>
          </p:cNvPr>
          <p:cNvSpPr txBox="1"/>
          <p:nvPr/>
        </p:nvSpPr>
        <p:spPr>
          <a:xfrm>
            <a:off x="990600" y="5055673"/>
            <a:ext cx="462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BPIC 2017 event log</a:t>
            </a:r>
            <a:r>
              <a:rPr lang="en-US" baseline="300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AD255-231F-4B0B-98C4-7E07D23A933C}"/>
              </a:ext>
            </a:extLst>
          </p:cNvPr>
          <p:cNvSpPr txBox="1"/>
          <p:nvPr/>
        </p:nvSpPr>
        <p:spPr>
          <a:xfrm>
            <a:off x="990600" y="5721400"/>
            <a:ext cx="5902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aseline="30000" dirty="0"/>
              <a:t>1</a:t>
            </a:r>
            <a:r>
              <a:rPr lang="en-US" sz="1600" dirty="0"/>
              <a:t> </a:t>
            </a:r>
            <a:r>
              <a:rPr lang="en-US" sz="1100" dirty="0" err="1"/>
              <a:t>doi</a:t>
            </a:r>
            <a:r>
              <a:rPr lang="en-US" sz="1100" dirty="0"/>
              <a:t>: 10.4121/uuid:5f3067df-f10b-45da-b98b-86ae4c7a310b</a:t>
            </a:r>
          </a:p>
        </p:txBody>
      </p:sp>
      <p:pic>
        <p:nvPicPr>
          <p:cNvPr id="1026" name="Picture 2" descr="DyLoPro logo">
            <a:extLst>
              <a:ext uri="{FF2B5EF4-FFF2-40B4-BE49-F238E27FC236}">
                <a16:creationId xmlns:a16="http://schemas.microsoft.com/office/drawing/2014/main" id="{4CA33FAF-7013-4A54-8D1E-29D3A9AE1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9382" y="4901593"/>
            <a:ext cx="804418" cy="80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29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F63D-D7D9-4B91-918C-C9008EEE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1125864" cy="1325563"/>
          </a:xfrm>
        </p:spPr>
        <p:txBody>
          <a:bodyPr>
            <a:normAutofit/>
          </a:bodyPr>
          <a:lstStyle/>
          <a:p>
            <a:r>
              <a:rPr lang="en-US" sz="2400" dirty="0"/>
              <a:t>New validation strategies</a:t>
            </a:r>
            <a:endParaRPr lang="en-US" sz="2400" dirty="0">
              <a:solidFill>
                <a:srgbClr val="C00000"/>
              </a:solidFill>
              <a:ea typeface="CMU Concrete" panose="02000603000000000000" pitchFamily="2" charset="0"/>
              <a:cs typeface="CMU Concrete" panose="02000603000000000000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EBA71-D95D-4B74-98DA-4BB8C63F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3158-AEA5-4C4E-9029-919E0224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9A76-91B0-49AB-814D-65D58EF2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CB4E-FF43-4600-8835-53A01F396434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E811F58-9159-46AD-AFC7-60E29A19F34C}"/>
              </a:ext>
            </a:extLst>
          </p:cNvPr>
          <p:cNvSpPr txBox="1">
            <a:spLocks/>
          </p:cNvSpPr>
          <p:nvPr/>
        </p:nvSpPr>
        <p:spPr>
          <a:xfrm>
            <a:off x="511599" y="3107654"/>
            <a:ext cx="10752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Event Log</a:t>
            </a:r>
            <a:endParaRPr lang="en-GB" sz="1800" dirty="0">
              <a:latin typeface="+mn-lt"/>
            </a:endParaRPr>
          </a:p>
        </p:txBody>
      </p:sp>
      <p:pic>
        <p:nvPicPr>
          <p:cNvPr id="8" name="Graphic 7" descr="Table">
            <a:extLst>
              <a:ext uri="{FF2B5EF4-FFF2-40B4-BE49-F238E27FC236}">
                <a16:creationId xmlns:a16="http://schemas.microsoft.com/office/drawing/2014/main" id="{AE4785F2-3AC6-43E5-AA19-317122DD6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782" y="3514304"/>
            <a:ext cx="628877" cy="62887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9E8BCE-1CD7-42B5-A7B9-3BAF7E0D2316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1363659" y="3828742"/>
            <a:ext cx="398587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8ED83B-7930-4CFD-BE59-4793F776E499}"/>
              </a:ext>
            </a:extLst>
          </p:cNvPr>
          <p:cNvSpPr txBox="1"/>
          <p:nvPr/>
        </p:nvSpPr>
        <p:spPr>
          <a:xfrm>
            <a:off x="1762246" y="3644076"/>
            <a:ext cx="1298455" cy="369332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Resampling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61DF8C6-1924-4DE0-89FE-4FFB86B712F6}"/>
              </a:ext>
            </a:extLst>
          </p:cNvPr>
          <p:cNvSpPr txBox="1">
            <a:spLocks/>
          </p:cNvSpPr>
          <p:nvPr/>
        </p:nvSpPr>
        <p:spPr>
          <a:xfrm>
            <a:off x="3255833" y="2090437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Training Log</a:t>
            </a:r>
            <a:endParaRPr lang="en-GB" sz="1800" dirty="0">
              <a:latin typeface="+mn-lt"/>
            </a:endParaRPr>
          </a:p>
        </p:txBody>
      </p:sp>
      <p:pic>
        <p:nvPicPr>
          <p:cNvPr id="16" name="Graphic 15" descr="Table">
            <a:extLst>
              <a:ext uri="{FF2B5EF4-FFF2-40B4-BE49-F238E27FC236}">
                <a16:creationId xmlns:a16="http://schemas.microsoft.com/office/drawing/2014/main" id="{C6B1A20F-C73B-4451-884A-F91D55F06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3442" y="2512840"/>
            <a:ext cx="628877" cy="628877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CB26BE11-22E0-4003-BD4F-678DBB621563}"/>
              </a:ext>
            </a:extLst>
          </p:cNvPr>
          <p:cNvSpPr txBox="1">
            <a:spLocks/>
          </p:cNvSpPr>
          <p:nvPr/>
        </p:nvSpPr>
        <p:spPr>
          <a:xfrm>
            <a:off x="3228341" y="4975252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Test Log</a:t>
            </a:r>
            <a:endParaRPr lang="en-GB" sz="1800" dirty="0">
              <a:latin typeface="+mn-lt"/>
            </a:endParaRPr>
          </a:p>
        </p:txBody>
      </p:sp>
      <p:pic>
        <p:nvPicPr>
          <p:cNvPr id="19" name="Graphic 18" descr="Table">
            <a:extLst>
              <a:ext uri="{FF2B5EF4-FFF2-40B4-BE49-F238E27FC236}">
                <a16:creationId xmlns:a16="http://schemas.microsoft.com/office/drawing/2014/main" id="{A4F361EE-8813-4FD5-BEFC-22C0566670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3442" y="4659548"/>
            <a:ext cx="628877" cy="62887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8D0E79-3F6A-4F23-9061-3C1C10E54082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3060701" y="2827279"/>
            <a:ext cx="502741" cy="100146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B23632-BBE5-4295-9E06-1E2E582E8208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3060701" y="3828742"/>
            <a:ext cx="502741" cy="114524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67CD6AD-7EB9-4BB9-8E32-C99709AF5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9113" y="2521871"/>
            <a:ext cx="1442508" cy="46084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BF0D77-26A9-45C0-83AF-CD5D5B476880}"/>
              </a:ext>
            </a:extLst>
          </p:cNvPr>
          <p:cNvCxnSpPr>
            <a:cxnSpLocks/>
          </p:cNvCxnSpPr>
          <p:nvPr/>
        </p:nvCxnSpPr>
        <p:spPr>
          <a:xfrm flipV="1">
            <a:off x="4358399" y="2813285"/>
            <a:ext cx="1318651" cy="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10EBE40-F414-4803-9D61-722BD14C81CF}"/>
              </a:ext>
            </a:extLst>
          </p:cNvPr>
          <p:cNvSpPr txBox="1"/>
          <p:nvPr/>
        </p:nvSpPr>
        <p:spPr>
          <a:xfrm>
            <a:off x="5910826" y="2141056"/>
            <a:ext cx="1299080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Train LSTM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D0D287-95E6-456C-A7CE-929CA6E24550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6560367" y="2982716"/>
            <a:ext cx="0" cy="15826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F6A8BDE7-C21C-430C-8942-AA92678273AE}"/>
              </a:ext>
            </a:extLst>
          </p:cNvPr>
          <p:cNvSpPr txBox="1">
            <a:spLocks/>
          </p:cNvSpPr>
          <p:nvPr/>
        </p:nvSpPr>
        <p:spPr>
          <a:xfrm>
            <a:off x="5757934" y="4959435"/>
            <a:ext cx="160486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Simulated Log</a:t>
            </a:r>
            <a:endParaRPr lang="en-GB" sz="1800" dirty="0">
              <a:latin typeface="+mn-lt"/>
            </a:endParaRPr>
          </a:p>
        </p:txBody>
      </p:sp>
      <p:pic>
        <p:nvPicPr>
          <p:cNvPr id="39" name="Graphic 38" descr="Table">
            <a:extLst>
              <a:ext uri="{FF2B5EF4-FFF2-40B4-BE49-F238E27FC236}">
                <a16:creationId xmlns:a16="http://schemas.microsoft.com/office/drawing/2014/main" id="{5A2023AF-7883-4BC4-AD44-FE1502B1FC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5929" y="4643731"/>
            <a:ext cx="628877" cy="62887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B9D19CA-E853-4E9C-BFFB-C26EC3828EEE}"/>
              </a:ext>
            </a:extLst>
          </p:cNvPr>
          <p:cNvSpPr txBox="1"/>
          <p:nvPr/>
        </p:nvSpPr>
        <p:spPr>
          <a:xfrm>
            <a:off x="285933" y="1835799"/>
            <a:ext cx="1471526" cy="892552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MU Serif" panose="02000603000000000000" pitchFamily="2" charset="0"/>
                <a:cs typeface="Calibri" panose="020F0502020204030204" pitchFamily="34" charset="0"/>
              </a:rPr>
              <a:t>Process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BCA5ED-8924-4DCA-9BA8-5799D75EE5CC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1021696" y="2728351"/>
            <a:ext cx="0" cy="64634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AE72CD43-E02C-4F2E-9F3F-E75468AA87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238" y="2230212"/>
            <a:ext cx="1355557" cy="28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F63D-D7D9-4B91-918C-C9008EEE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3127"/>
            <a:ext cx="11125864" cy="1325563"/>
          </a:xfrm>
        </p:spPr>
        <p:txBody>
          <a:bodyPr>
            <a:normAutofit/>
          </a:bodyPr>
          <a:lstStyle/>
          <a:p>
            <a:r>
              <a:rPr lang="en-US" sz="2400" dirty="0"/>
              <a:t>New validation strategies</a:t>
            </a:r>
            <a:endParaRPr lang="en-US" sz="2400" dirty="0">
              <a:solidFill>
                <a:srgbClr val="C00000"/>
              </a:solidFill>
              <a:ea typeface="CMU Concrete" panose="02000603000000000000" pitchFamily="2" charset="0"/>
              <a:cs typeface="CMU Concrete" panose="02000603000000000000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EBA71-D95D-4B74-98DA-4BB8C63F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3158-AEA5-4C4E-9029-919E0224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9A76-91B0-49AB-814D-65D58EF2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CB4E-FF43-4600-8835-53A01F396434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E811F58-9159-46AD-AFC7-60E29A19F34C}"/>
              </a:ext>
            </a:extLst>
          </p:cNvPr>
          <p:cNvSpPr txBox="1">
            <a:spLocks/>
          </p:cNvSpPr>
          <p:nvPr/>
        </p:nvSpPr>
        <p:spPr>
          <a:xfrm>
            <a:off x="520658" y="3197176"/>
            <a:ext cx="10752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Event Log</a:t>
            </a:r>
            <a:endParaRPr lang="en-GB" sz="1800" dirty="0">
              <a:latin typeface="+mn-lt"/>
            </a:endParaRPr>
          </a:p>
        </p:txBody>
      </p:sp>
      <p:pic>
        <p:nvPicPr>
          <p:cNvPr id="8" name="Graphic 7" descr="Table">
            <a:extLst>
              <a:ext uri="{FF2B5EF4-FFF2-40B4-BE49-F238E27FC236}">
                <a16:creationId xmlns:a16="http://schemas.microsoft.com/office/drawing/2014/main" id="{AE4785F2-3AC6-43E5-AA19-317122DD6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41" y="3603826"/>
            <a:ext cx="628877" cy="62887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9E8BCE-1CD7-42B5-A7B9-3BAF7E0D2316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1372718" y="3918264"/>
            <a:ext cx="398587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8ED83B-7930-4CFD-BE59-4793F776E499}"/>
              </a:ext>
            </a:extLst>
          </p:cNvPr>
          <p:cNvSpPr txBox="1"/>
          <p:nvPr/>
        </p:nvSpPr>
        <p:spPr>
          <a:xfrm>
            <a:off x="1771305" y="3733598"/>
            <a:ext cx="1298455" cy="369332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Resampling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61DF8C6-1924-4DE0-89FE-4FFB86B712F6}"/>
              </a:ext>
            </a:extLst>
          </p:cNvPr>
          <p:cNvSpPr txBox="1">
            <a:spLocks/>
          </p:cNvSpPr>
          <p:nvPr/>
        </p:nvSpPr>
        <p:spPr>
          <a:xfrm>
            <a:off x="3264892" y="2179959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Training Log</a:t>
            </a:r>
            <a:endParaRPr lang="en-GB" sz="1800" dirty="0">
              <a:latin typeface="+mn-lt"/>
            </a:endParaRPr>
          </a:p>
        </p:txBody>
      </p:sp>
      <p:pic>
        <p:nvPicPr>
          <p:cNvPr id="16" name="Graphic 15" descr="Table">
            <a:extLst>
              <a:ext uri="{FF2B5EF4-FFF2-40B4-BE49-F238E27FC236}">
                <a16:creationId xmlns:a16="http://schemas.microsoft.com/office/drawing/2014/main" id="{C6B1A20F-C73B-4451-884A-F91D55F06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2501" y="2602362"/>
            <a:ext cx="628877" cy="628877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CB26BE11-22E0-4003-BD4F-678DBB621563}"/>
              </a:ext>
            </a:extLst>
          </p:cNvPr>
          <p:cNvSpPr txBox="1">
            <a:spLocks/>
          </p:cNvSpPr>
          <p:nvPr/>
        </p:nvSpPr>
        <p:spPr>
          <a:xfrm>
            <a:off x="3237400" y="5064774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Test Log</a:t>
            </a:r>
            <a:endParaRPr lang="en-GB" sz="1800" dirty="0">
              <a:latin typeface="+mn-lt"/>
            </a:endParaRPr>
          </a:p>
        </p:txBody>
      </p:sp>
      <p:pic>
        <p:nvPicPr>
          <p:cNvPr id="19" name="Graphic 18" descr="Table">
            <a:extLst>
              <a:ext uri="{FF2B5EF4-FFF2-40B4-BE49-F238E27FC236}">
                <a16:creationId xmlns:a16="http://schemas.microsoft.com/office/drawing/2014/main" id="{A4F361EE-8813-4FD5-BEFC-22C0566670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72501" y="4749070"/>
            <a:ext cx="628877" cy="62887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8D0E79-3F6A-4F23-9061-3C1C10E54082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3069760" y="2916801"/>
            <a:ext cx="502741" cy="100146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B23632-BBE5-4295-9E06-1E2E582E8208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3069760" y="3918264"/>
            <a:ext cx="502741" cy="114524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67CD6AD-7EB9-4BB9-8E32-C99709AF5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7132" y="2627210"/>
            <a:ext cx="1442508" cy="46084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BF0D77-26A9-45C0-83AF-CD5D5B476880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 flipV="1">
            <a:off x="4201378" y="2911624"/>
            <a:ext cx="760138" cy="5177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10EBE40-F414-4803-9D61-722BD14C81CF}"/>
              </a:ext>
            </a:extLst>
          </p:cNvPr>
          <p:cNvSpPr txBox="1"/>
          <p:nvPr/>
        </p:nvSpPr>
        <p:spPr>
          <a:xfrm>
            <a:off x="8069698" y="1877980"/>
            <a:ext cx="3945390" cy="369332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Train LSTM on</a:t>
            </a:r>
            <a:r>
              <a:rPr kumimoji="0" lang="en-US" sz="1800" b="0" i="1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nex</a:t>
            </a:r>
            <a:r>
              <a:rPr lang="en-US" i="1" kern="0" dirty="0">
                <a:solidFill>
                  <a:prstClr val="black"/>
                </a:solidFill>
                <a:latin typeface="Calibri" panose="020F0502020204030204"/>
              </a:rPr>
              <a:t>t </a:t>
            </a:r>
            <a:r>
              <a:rPr lang="en-US" i="1" kern="0" dirty="0">
                <a:solidFill>
                  <a:prstClr val="black"/>
                </a:solidFill>
              </a:rPr>
              <a:t>activity</a:t>
            </a:r>
            <a:r>
              <a:rPr lang="en-US" i="1" kern="0" dirty="0">
                <a:solidFill>
                  <a:prstClr val="black"/>
                </a:solidFill>
                <a:latin typeface="Calibri" panose="020F0502020204030204"/>
              </a:rPr>
              <a:t> prediction</a:t>
            </a: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F6A8BDE7-C21C-430C-8942-AA92678273AE}"/>
              </a:ext>
            </a:extLst>
          </p:cNvPr>
          <p:cNvSpPr txBox="1">
            <a:spLocks/>
          </p:cNvSpPr>
          <p:nvPr/>
        </p:nvSpPr>
        <p:spPr>
          <a:xfrm>
            <a:off x="9335953" y="5064774"/>
            <a:ext cx="160486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Simulated Log</a:t>
            </a:r>
            <a:endParaRPr lang="en-GB" sz="1800" dirty="0">
              <a:latin typeface="+mn-lt"/>
            </a:endParaRPr>
          </a:p>
        </p:txBody>
      </p:sp>
      <p:pic>
        <p:nvPicPr>
          <p:cNvPr id="39" name="Graphic 38" descr="Table">
            <a:extLst>
              <a:ext uri="{FF2B5EF4-FFF2-40B4-BE49-F238E27FC236}">
                <a16:creationId xmlns:a16="http://schemas.microsoft.com/office/drawing/2014/main" id="{5A2023AF-7883-4BC4-AD44-FE1502B1FC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23948" y="4749070"/>
            <a:ext cx="628877" cy="6288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FFF8AD4-FD8C-45A1-AB55-FC3B67C0D0B5}"/>
              </a:ext>
            </a:extLst>
          </p:cNvPr>
          <p:cNvSpPr txBox="1"/>
          <p:nvPr/>
        </p:nvSpPr>
        <p:spPr>
          <a:xfrm>
            <a:off x="4961516" y="2449959"/>
            <a:ext cx="1299570" cy="923330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kern="0" dirty="0">
                <a:solidFill>
                  <a:prstClr val="black"/>
                </a:solidFill>
                <a:latin typeface="Calibri" panose="020F0502020204030204"/>
              </a:rPr>
              <a:t>Different r</a:t>
            </a:r>
            <a:r>
              <a:rPr kumimoji="0" lang="en-US" sz="1800" i="1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esampling</a:t>
            </a:r>
            <a:r>
              <a:rPr kumimoji="0" lang="en-US" sz="180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strategies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D84D13E-D1F6-43B6-AFE3-75A8E2A1CF4A}"/>
              </a:ext>
            </a:extLst>
          </p:cNvPr>
          <p:cNvSpPr txBox="1">
            <a:spLocks/>
          </p:cNvSpPr>
          <p:nvPr/>
        </p:nvSpPr>
        <p:spPr>
          <a:xfrm>
            <a:off x="6704412" y="1668144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Training Set</a:t>
            </a:r>
            <a:endParaRPr lang="en-GB" sz="1800" dirty="0">
              <a:latin typeface="+mn-lt"/>
            </a:endParaRPr>
          </a:p>
        </p:txBody>
      </p:sp>
      <p:pic>
        <p:nvPicPr>
          <p:cNvPr id="26" name="Graphic 25" descr="Table">
            <a:extLst>
              <a:ext uri="{FF2B5EF4-FFF2-40B4-BE49-F238E27FC236}">
                <a16:creationId xmlns:a16="http://schemas.microsoft.com/office/drawing/2014/main" id="{0628A637-FEA1-4F72-9EB8-C4F8E476D1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5434" y="2057158"/>
            <a:ext cx="628877" cy="628877"/>
          </a:xfrm>
          <a:prstGeom prst="rect">
            <a:avLst/>
          </a:prstGeom>
        </p:spPr>
      </p:pic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6788B5F-7D6B-4891-B69E-F7AB73877375}"/>
              </a:ext>
            </a:extLst>
          </p:cNvPr>
          <p:cNvSpPr txBox="1">
            <a:spLocks/>
          </p:cNvSpPr>
          <p:nvPr/>
        </p:nvSpPr>
        <p:spPr>
          <a:xfrm>
            <a:off x="6632706" y="2857975"/>
            <a:ext cx="14424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Validation Set</a:t>
            </a:r>
            <a:endParaRPr lang="en-GB" sz="1800" dirty="0">
              <a:latin typeface="+mn-lt"/>
            </a:endParaRPr>
          </a:p>
        </p:txBody>
      </p:sp>
      <p:pic>
        <p:nvPicPr>
          <p:cNvPr id="29" name="Graphic 28" descr="Table">
            <a:extLst>
              <a:ext uri="{FF2B5EF4-FFF2-40B4-BE49-F238E27FC236}">
                <a16:creationId xmlns:a16="http://schemas.microsoft.com/office/drawing/2014/main" id="{8CBF72F3-CC5E-476A-B297-45EBAEC97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5434" y="3254527"/>
            <a:ext cx="628877" cy="628877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1ABD5AF-33C7-49F9-94AB-90FF439FD033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 flipV="1">
            <a:off x="6261086" y="2371597"/>
            <a:ext cx="704348" cy="540027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5498FA-52D1-4ACA-AFB2-4111FBD6E63A}"/>
              </a:ext>
            </a:extLst>
          </p:cNvPr>
          <p:cNvCxnSpPr>
            <a:cxnSpLocks/>
            <a:stCxn id="24" idx="3"/>
            <a:endCxn id="29" idx="1"/>
          </p:cNvCxnSpPr>
          <p:nvPr/>
        </p:nvCxnSpPr>
        <p:spPr>
          <a:xfrm>
            <a:off x="6261086" y="2911624"/>
            <a:ext cx="704348" cy="65734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D9247BC-2EEE-4A97-A8CE-1E066D428BE3}"/>
              </a:ext>
            </a:extLst>
          </p:cNvPr>
          <p:cNvSpPr/>
          <p:nvPr/>
        </p:nvSpPr>
        <p:spPr>
          <a:xfrm>
            <a:off x="7633097" y="2305444"/>
            <a:ext cx="1670180" cy="275253"/>
          </a:xfrm>
          <a:custGeom>
            <a:avLst/>
            <a:gdLst>
              <a:gd name="connsiteX0" fmla="*/ 0 w 1670180"/>
              <a:gd name="connsiteY0" fmla="*/ 0 h 275253"/>
              <a:gd name="connsiteX1" fmla="*/ 1082351 w 1670180"/>
              <a:gd name="connsiteY1" fmla="*/ 55984 h 275253"/>
              <a:gd name="connsiteX2" fmla="*/ 1670180 w 1670180"/>
              <a:gd name="connsiteY2" fmla="*/ 275253 h 27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0180" h="275253">
                <a:moveTo>
                  <a:pt x="0" y="0"/>
                </a:moveTo>
                <a:cubicBezTo>
                  <a:pt x="401994" y="5054"/>
                  <a:pt x="803988" y="10109"/>
                  <a:pt x="1082351" y="55984"/>
                </a:cubicBezTo>
                <a:cubicBezTo>
                  <a:pt x="1360714" y="101859"/>
                  <a:pt x="1515447" y="188556"/>
                  <a:pt x="1670180" y="275253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5FD65B7-228F-45ED-87D8-837252DB2226}"/>
              </a:ext>
            </a:extLst>
          </p:cNvPr>
          <p:cNvSpPr/>
          <p:nvPr/>
        </p:nvSpPr>
        <p:spPr>
          <a:xfrm flipV="1">
            <a:off x="7634437" y="3190726"/>
            <a:ext cx="1670180" cy="365125"/>
          </a:xfrm>
          <a:custGeom>
            <a:avLst/>
            <a:gdLst>
              <a:gd name="connsiteX0" fmla="*/ 0 w 1670180"/>
              <a:gd name="connsiteY0" fmla="*/ 0 h 275253"/>
              <a:gd name="connsiteX1" fmla="*/ 1082351 w 1670180"/>
              <a:gd name="connsiteY1" fmla="*/ 55984 h 275253"/>
              <a:gd name="connsiteX2" fmla="*/ 1670180 w 1670180"/>
              <a:gd name="connsiteY2" fmla="*/ 275253 h 27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0180" h="275253">
                <a:moveTo>
                  <a:pt x="0" y="0"/>
                </a:moveTo>
                <a:cubicBezTo>
                  <a:pt x="401994" y="5054"/>
                  <a:pt x="803988" y="10109"/>
                  <a:pt x="1082351" y="55984"/>
                </a:cubicBezTo>
                <a:cubicBezTo>
                  <a:pt x="1360714" y="101859"/>
                  <a:pt x="1515447" y="188556"/>
                  <a:pt x="1670180" y="275253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3F9221-2F2B-4F87-A247-2BE19CAB3553}"/>
              </a:ext>
            </a:extLst>
          </p:cNvPr>
          <p:cNvSpPr txBox="1"/>
          <p:nvPr/>
        </p:nvSpPr>
        <p:spPr>
          <a:xfrm>
            <a:off x="7841292" y="3608857"/>
            <a:ext cx="3508499" cy="584775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CMU Concrete" panose="02000603000000000000" pitchFamily="2" charset="0"/>
                <a:cs typeface="CMU Concrete" panose="02000603000000000000" pitchFamily="2" charset="0"/>
              </a:rPr>
              <a:t>Set hyperparameters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rgbClr val="C00000"/>
                </a:solidFill>
                <a:ea typeface="CMU Concrete" panose="02000603000000000000" pitchFamily="2" charset="0"/>
                <a:cs typeface="CMU Concrete" panose="02000603000000000000" pitchFamily="2" charset="0"/>
              </a:rPr>
              <a:t>Early stopping</a:t>
            </a:r>
            <a:endParaRPr kumimoji="0" lang="en-US" sz="1600" b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CMU Concrete" panose="02000603000000000000" pitchFamily="2" charset="0"/>
              <a:cs typeface="CMU Concrete" panose="02000603000000000000" pitchFamily="2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AF8994C-B125-4B5B-9B9B-8ED772C0F1EF}"/>
              </a:ext>
            </a:extLst>
          </p:cNvPr>
          <p:cNvCxnSpPr>
            <a:cxnSpLocks/>
          </p:cNvCxnSpPr>
          <p:nvPr/>
        </p:nvCxnSpPr>
        <p:spPr>
          <a:xfrm>
            <a:off x="10143050" y="3231239"/>
            <a:ext cx="0" cy="15826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DC93B57-45F4-4143-B34C-932FBCC0B79C}"/>
              </a:ext>
            </a:extLst>
          </p:cNvPr>
          <p:cNvSpPr txBox="1"/>
          <p:nvPr/>
        </p:nvSpPr>
        <p:spPr>
          <a:xfrm>
            <a:off x="294992" y="1925321"/>
            <a:ext cx="1471526" cy="892552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MU Serif" panose="02000603000000000000" pitchFamily="2" charset="0"/>
                <a:cs typeface="Calibri" panose="020F0502020204030204" pitchFamily="34" charset="0"/>
              </a:rPr>
              <a:t>Process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168DCAA-B088-477D-B33C-A694250156A7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1030755" y="2817873"/>
            <a:ext cx="0" cy="64634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85EE0AAB-D1C7-4CB7-8EF4-BCDEE70E66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97" y="2319734"/>
            <a:ext cx="1355557" cy="28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76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8" grpId="0"/>
      <p:bldP spid="24" grpId="0" animBg="1"/>
      <p:bldP spid="25" grpId="0"/>
      <p:bldP spid="27" grpId="0"/>
      <p:bldP spid="40" grpId="0" animBg="1"/>
      <p:bldP spid="41" grpId="0" animBg="1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8B31-E1D6-4604-81BB-DEFFFF45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Results validation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E8E1F-3EB0-4F62-AB18-735E85F2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variant-based resampling for the validation set improves the generalization metric with the test set</a:t>
            </a:r>
          </a:p>
          <a:p>
            <a:pPr marL="457200" lvl="1" indent="0">
              <a:buNone/>
            </a:pPr>
            <a:r>
              <a:rPr lang="en-US" dirty="0"/>
              <a:t>→ At a little cost in fitness/precision</a:t>
            </a:r>
          </a:p>
          <a:p>
            <a:pPr lvl="1"/>
            <a:endParaRPr lang="en-US" dirty="0"/>
          </a:p>
          <a:p>
            <a:r>
              <a:rPr lang="en-US" dirty="0"/>
              <a:t>Selected hyperparameters are not too different</a:t>
            </a:r>
          </a:p>
          <a:p>
            <a:pPr marL="457200" lvl="1" indent="0">
              <a:buNone/>
            </a:pPr>
            <a:r>
              <a:rPr lang="en-US" dirty="0"/>
              <a:t>→ Importance of early stopping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504D9-16B9-4664-9B18-B7852EB5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63D26-44C7-4332-9CA6-83948018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DB247-B06D-4B82-BB21-453C43ECB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8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41D6-D11C-4CA8-9CE0-43CC815F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Log completeness experiments and “System Metrics”</a:t>
            </a: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AB4D-9850-4C18-91FC-86D050F4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7743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Complemented by experiments with complex process model structures</a:t>
            </a:r>
          </a:p>
          <a:p>
            <a:endParaRPr lang="en-GB" dirty="0"/>
          </a:p>
          <a:p>
            <a:r>
              <a:rPr lang="en-GB" dirty="0"/>
              <a:t>We simulate the situation where the event log represents only a sample of all possible process behaviour allowed by underlying system</a:t>
            </a:r>
          </a:p>
          <a:p>
            <a:pPr marL="457200" lvl="1" indent="0">
              <a:buNone/>
            </a:pPr>
            <a:r>
              <a:rPr lang="en-GB" dirty="0"/>
              <a:t>→ Random sample of bigger “System Log”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Allows us to investigate the influence of log (in)completeness</a:t>
            </a:r>
          </a:p>
          <a:p>
            <a:endParaRPr lang="en-GB" dirty="0"/>
          </a:p>
          <a:p>
            <a:r>
              <a:rPr lang="en-GB" dirty="0"/>
              <a:t>Introduction of extra “System Metrics”</a:t>
            </a:r>
          </a:p>
          <a:p>
            <a:pPr marL="457200" lvl="1" indent="0">
              <a:buNone/>
            </a:pPr>
            <a:r>
              <a:rPr lang="en-GB" dirty="0"/>
              <a:t>→ May not be directly applicable in practical scenarios</a:t>
            </a:r>
          </a:p>
          <a:p>
            <a:pPr marL="457200" lvl="1" indent="0">
              <a:buNone/>
            </a:pPr>
            <a:r>
              <a:rPr lang="en-US" dirty="0"/>
              <a:t>→ But these are less arbitrary (random sampling)</a:t>
            </a:r>
            <a:endParaRPr lang="en-GB" dirty="0"/>
          </a:p>
          <a:p>
            <a:pPr marL="457200" lvl="1" indent="0">
              <a:buNone/>
            </a:pPr>
            <a:r>
              <a:rPr lang="en-US" dirty="0"/>
              <a:t>→</a:t>
            </a:r>
            <a:r>
              <a:rPr lang="en-GB" dirty="0"/>
              <a:t> Do give us a way to evaluate our original metrics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C9CE-8196-4EF5-B8BF-449BA389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48A71-35EA-4FEF-97B6-99481C17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ED6CE-5ACF-4C6A-8407-699E1BC7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6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9FA363-8D65-429A-B434-C85F135BAF4F}"/>
              </a:ext>
            </a:extLst>
          </p:cNvPr>
          <p:cNvSpPr txBox="1">
            <a:spLocks/>
          </p:cNvSpPr>
          <p:nvPr/>
        </p:nvSpPr>
        <p:spPr>
          <a:xfrm>
            <a:off x="4404846" y="1878392"/>
            <a:ext cx="106263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Event Log</a:t>
            </a:r>
            <a:endParaRPr lang="en-GB" sz="1800" dirty="0">
              <a:latin typeface="+mn-lt"/>
            </a:endParaRPr>
          </a:p>
        </p:txBody>
      </p:sp>
      <p:pic>
        <p:nvPicPr>
          <p:cNvPr id="5" name="Graphic 4" descr="Table">
            <a:extLst>
              <a:ext uri="{FF2B5EF4-FFF2-40B4-BE49-F238E27FC236}">
                <a16:creationId xmlns:a16="http://schemas.microsoft.com/office/drawing/2014/main" id="{AA9D15AC-447C-4ECE-A463-7349FCC15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1722" y="2286172"/>
            <a:ext cx="628877" cy="628877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FA8297E-E1CC-42E9-B9A5-93CE9ACF3E83}"/>
              </a:ext>
            </a:extLst>
          </p:cNvPr>
          <p:cNvSpPr txBox="1">
            <a:spLocks/>
          </p:cNvSpPr>
          <p:nvPr/>
        </p:nvSpPr>
        <p:spPr>
          <a:xfrm>
            <a:off x="5755985" y="1096341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Training Log</a:t>
            </a:r>
            <a:endParaRPr lang="en-GB" sz="1800" dirty="0">
              <a:latin typeface="+mn-lt"/>
            </a:endParaRPr>
          </a:p>
        </p:txBody>
      </p:sp>
      <p:pic>
        <p:nvPicPr>
          <p:cNvPr id="9" name="Graphic 8" descr="Table">
            <a:extLst>
              <a:ext uri="{FF2B5EF4-FFF2-40B4-BE49-F238E27FC236}">
                <a16:creationId xmlns:a16="http://schemas.microsoft.com/office/drawing/2014/main" id="{BEB94703-0672-4E08-9BDE-D4A232C09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6912" y="1486648"/>
            <a:ext cx="628877" cy="62887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F9855F-0447-4BD3-9AE9-62A56FC43EA1}"/>
              </a:ext>
            </a:extLst>
          </p:cNvPr>
          <p:cNvSpPr txBox="1">
            <a:spLocks/>
          </p:cNvSpPr>
          <p:nvPr/>
        </p:nvSpPr>
        <p:spPr>
          <a:xfrm>
            <a:off x="5778272" y="3322828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Test Log</a:t>
            </a:r>
            <a:endParaRPr lang="en-GB" sz="1800" dirty="0">
              <a:latin typeface="+mn-lt"/>
            </a:endParaRPr>
          </a:p>
        </p:txBody>
      </p:sp>
      <p:pic>
        <p:nvPicPr>
          <p:cNvPr id="11" name="Graphic 10" descr="Table">
            <a:extLst>
              <a:ext uri="{FF2B5EF4-FFF2-40B4-BE49-F238E27FC236}">
                <a16:creationId xmlns:a16="http://schemas.microsoft.com/office/drawing/2014/main" id="{AA8990F5-9B80-4981-B5F4-27B5DF1371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13373" y="3008390"/>
            <a:ext cx="628877" cy="62887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FB8503-DC18-474C-BB11-CD8525C2BEF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5250599" y="1801087"/>
            <a:ext cx="866313" cy="79952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4055A5-DA87-4B7D-9053-808D6C267F2D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5250599" y="2600611"/>
            <a:ext cx="862774" cy="72221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55297D0-8AFD-4361-B4AF-EE95A721CE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8296" y="1515407"/>
            <a:ext cx="1442508" cy="460845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132E6EC1-7BC8-48EC-A7BC-79AFE8B3C66A}"/>
              </a:ext>
            </a:extLst>
          </p:cNvPr>
          <p:cNvSpPr txBox="1">
            <a:spLocks/>
          </p:cNvSpPr>
          <p:nvPr/>
        </p:nvSpPr>
        <p:spPr>
          <a:xfrm>
            <a:off x="9817117" y="4266143"/>
            <a:ext cx="1604865" cy="7412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Simulated Log</a:t>
            </a:r>
          </a:p>
          <a:p>
            <a:pPr algn="ctr"/>
            <a:r>
              <a:rPr lang="en-US" sz="1200" i="1" dirty="0">
                <a:latin typeface="+mn-lt"/>
              </a:rPr>
              <a:t>(larger)</a:t>
            </a:r>
          </a:p>
        </p:txBody>
      </p:sp>
      <p:pic>
        <p:nvPicPr>
          <p:cNvPr id="18" name="Graphic 17" descr="Table">
            <a:extLst>
              <a:ext uri="{FF2B5EF4-FFF2-40B4-BE49-F238E27FC236}">
                <a16:creationId xmlns:a16="http://schemas.microsoft.com/office/drawing/2014/main" id="{B930C0CA-0EA9-4A72-80E2-28762586F8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05112" y="3637267"/>
            <a:ext cx="628877" cy="628877"/>
          </a:xfrm>
          <a:prstGeom prst="rect">
            <a:avLst/>
          </a:prstGeom>
        </p:spPr>
      </p:pic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88E7065A-47A3-4561-A396-7138FCAF1032}"/>
              </a:ext>
            </a:extLst>
          </p:cNvPr>
          <p:cNvSpPr txBox="1">
            <a:spLocks/>
          </p:cNvSpPr>
          <p:nvPr/>
        </p:nvSpPr>
        <p:spPr>
          <a:xfrm>
            <a:off x="7185576" y="556341"/>
            <a:ext cx="1299080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Training Set</a:t>
            </a:r>
            <a:endParaRPr lang="en-GB" sz="1800" dirty="0">
              <a:latin typeface="+mn-lt"/>
            </a:endParaRPr>
          </a:p>
        </p:txBody>
      </p:sp>
      <p:pic>
        <p:nvPicPr>
          <p:cNvPr id="21" name="Graphic 20" descr="Table">
            <a:extLst>
              <a:ext uri="{FF2B5EF4-FFF2-40B4-BE49-F238E27FC236}">
                <a16:creationId xmlns:a16="http://schemas.microsoft.com/office/drawing/2014/main" id="{797D6555-7584-400F-ACFC-51699C8B1E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6598" y="945355"/>
            <a:ext cx="628877" cy="628877"/>
          </a:xfrm>
          <a:prstGeom prst="rect">
            <a:avLst/>
          </a:prstGeom>
        </p:spPr>
      </p:pic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C2B35520-594B-42EF-AC6C-3E38FA01B36E}"/>
              </a:ext>
            </a:extLst>
          </p:cNvPr>
          <p:cNvSpPr txBox="1">
            <a:spLocks/>
          </p:cNvSpPr>
          <p:nvPr/>
        </p:nvSpPr>
        <p:spPr>
          <a:xfrm>
            <a:off x="7113870" y="1746172"/>
            <a:ext cx="14424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Validation Set</a:t>
            </a:r>
            <a:endParaRPr lang="en-GB" sz="1800" dirty="0">
              <a:latin typeface="+mn-lt"/>
            </a:endParaRPr>
          </a:p>
        </p:txBody>
      </p:sp>
      <p:pic>
        <p:nvPicPr>
          <p:cNvPr id="23" name="Graphic 22" descr="Table">
            <a:extLst>
              <a:ext uri="{FF2B5EF4-FFF2-40B4-BE49-F238E27FC236}">
                <a16:creationId xmlns:a16="http://schemas.microsoft.com/office/drawing/2014/main" id="{5D3CBFE7-F7AD-4C79-AD31-74E4D910C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6598" y="2142724"/>
            <a:ext cx="628877" cy="628877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8CD4E47-B274-43C6-8874-B10E20F4112E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742250" y="1259794"/>
            <a:ext cx="704348" cy="540027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7F8D0F8-433A-47E0-A844-5C47CDA07C14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742250" y="1799821"/>
            <a:ext cx="704348" cy="65734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6F7D22F-D175-4B3E-8174-F88329A2D627}"/>
              </a:ext>
            </a:extLst>
          </p:cNvPr>
          <p:cNvSpPr/>
          <p:nvPr/>
        </p:nvSpPr>
        <p:spPr>
          <a:xfrm>
            <a:off x="8114261" y="1193641"/>
            <a:ext cx="1670180" cy="275253"/>
          </a:xfrm>
          <a:custGeom>
            <a:avLst/>
            <a:gdLst>
              <a:gd name="connsiteX0" fmla="*/ 0 w 1670180"/>
              <a:gd name="connsiteY0" fmla="*/ 0 h 275253"/>
              <a:gd name="connsiteX1" fmla="*/ 1082351 w 1670180"/>
              <a:gd name="connsiteY1" fmla="*/ 55984 h 275253"/>
              <a:gd name="connsiteX2" fmla="*/ 1670180 w 1670180"/>
              <a:gd name="connsiteY2" fmla="*/ 275253 h 27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0180" h="275253">
                <a:moveTo>
                  <a:pt x="0" y="0"/>
                </a:moveTo>
                <a:cubicBezTo>
                  <a:pt x="401994" y="5054"/>
                  <a:pt x="803988" y="10109"/>
                  <a:pt x="1082351" y="55984"/>
                </a:cubicBezTo>
                <a:cubicBezTo>
                  <a:pt x="1360714" y="101859"/>
                  <a:pt x="1515447" y="188556"/>
                  <a:pt x="1670180" y="275253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1F50CF7-35A4-433B-83A4-DD9E3B343A33}"/>
              </a:ext>
            </a:extLst>
          </p:cNvPr>
          <p:cNvSpPr/>
          <p:nvPr/>
        </p:nvSpPr>
        <p:spPr>
          <a:xfrm flipV="1">
            <a:off x="8115601" y="2078923"/>
            <a:ext cx="1670180" cy="365125"/>
          </a:xfrm>
          <a:custGeom>
            <a:avLst/>
            <a:gdLst>
              <a:gd name="connsiteX0" fmla="*/ 0 w 1670180"/>
              <a:gd name="connsiteY0" fmla="*/ 0 h 275253"/>
              <a:gd name="connsiteX1" fmla="*/ 1082351 w 1670180"/>
              <a:gd name="connsiteY1" fmla="*/ 55984 h 275253"/>
              <a:gd name="connsiteX2" fmla="*/ 1670180 w 1670180"/>
              <a:gd name="connsiteY2" fmla="*/ 275253 h 27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0180" h="275253">
                <a:moveTo>
                  <a:pt x="0" y="0"/>
                </a:moveTo>
                <a:cubicBezTo>
                  <a:pt x="401994" y="5054"/>
                  <a:pt x="803988" y="10109"/>
                  <a:pt x="1082351" y="55984"/>
                </a:cubicBezTo>
                <a:cubicBezTo>
                  <a:pt x="1360714" y="101859"/>
                  <a:pt x="1515447" y="188556"/>
                  <a:pt x="1670180" y="275253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D9D1FD-27B9-4FFB-B877-173C7C544A3E}"/>
              </a:ext>
            </a:extLst>
          </p:cNvPr>
          <p:cNvCxnSpPr>
            <a:cxnSpLocks/>
          </p:cNvCxnSpPr>
          <p:nvPr/>
        </p:nvCxnSpPr>
        <p:spPr>
          <a:xfrm>
            <a:off x="10624214" y="2119436"/>
            <a:ext cx="0" cy="15826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0B5F5C5-5F7C-4C39-9158-4AC653791289}"/>
              </a:ext>
            </a:extLst>
          </p:cNvPr>
          <p:cNvSpPr txBox="1"/>
          <p:nvPr/>
        </p:nvSpPr>
        <p:spPr>
          <a:xfrm>
            <a:off x="891697" y="576342"/>
            <a:ext cx="1471526" cy="892552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MU Serif" panose="02000603000000000000" pitchFamily="2" charset="0"/>
                <a:cs typeface="Calibri" panose="020F0502020204030204" pitchFamily="34" charset="0"/>
              </a:rPr>
              <a:t>Process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D144701-066E-4A6B-8A5B-DF724EB7AEE0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1627460" y="1468894"/>
            <a:ext cx="0" cy="64634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BF71F54E-69A6-431E-9940-C876A207E007}"/>
              </a:ext>
            </a:extLst>
          </p:cNvPr>
          <p:cNvSpPr txBox="1">
            <a:spLocks/>
          </p:cNvSpPr>
          <p:nvPr/>
        </p:nvSpPr>
        <p:spPr>
          <a:xfrm>
            <a:off x="952002" y="1878392"/>
            <a:ext cx="127761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System Log</a:t>
            </a:r>
            <a:endParaRPr lang="en-GB" sz="1800" dirty="0">
              <a:latin typeface="+mn-lt"/>
            </a:endParaRPr>
          </a:p>
        </p:txBody>
      </p:sp>
      <p:pic>
        <p:nvPicPr>
          <p:cNvPr id="42" name="Graphic 41" descr="Table">
            <a:extLst>
              <a:ext uri="{FF2B5EF4-FFF2-40B4-BE49-F238E27FC236}">
                <a16:creationId xmlns:a16="http://schemas.microsoft.com/office/drawing/2014/main" id="{5483D80F-0908-45C3-B1FB-AB7F473E39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92713" y="2286172"/>
            <a:ext cx="628877" cy="628877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1959EBF-A59B-4A65-85B8-9B29E66F01B0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>
            <a:off x="1921590" y="2600611"/>
            <a:ext cx="43897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C65B471-89E9-479C-81BF-7F450BD572BE}"/>
              </a:ext>
            </a:extLst>
          </p:cNvPr>
          <p:cNvSpPr txBox="1"/>
          <p:nvPr/>
        </p:nvSpPr>
        <p:spPr>
          <a:xfrm>
            <a:off x="2360561" y="2415945"/>
            <a:ext cx="1888256" cy="369332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Random Sampling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E739079-CE02-4679-8243-6742AA0F197F}"/>
              </a:ext>
            </a:extLst>
          </p:cNvPr>
          <p:cNvCxnSpPr>
            <a:cxnSpLocks/>
          </p:cNvCxnSpPr>
          <p:nvPr/>
        </p:nvCxnSpPr>
        <p:spPr>
          <a:xfrm>
            <a:off x="4248817" y="2600611"/>
            <a:ext cx="43897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C680144-2C42-4D55-96EA-40E6E163C1D4}"/>
              </a:ext>
            </a:extLst>
          </p:cNvPr>
          <p:cNvSpPr txBox="1"/>
          <p:nvPr/>
        </p:nvSpPr>
        <p:spPr>
          <a:xfrm>
            <a:off x="2389228" y="3470406"/>
            <a:ext cx="1888256" cy="646331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Sample “missing variant”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12F76A4-3957-4C8D-BA7E-A3FF035FE652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1896308" y="2771601"/>
            <a:ext cx="1437048" cy="69880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5FDF4B9-1D49-43BF-A317-BD35BB4D85E5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3333356" y="2782831"/>
            <a:ext cx="1354432" cy="68757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8415AE3-A85B-4643-AC82-5AE5234974CA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3333356" y="4116737"/>
            <a:ext cx="0" cy="27487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</p:cxn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C862BEEF-5010-45A7-AA42-1389AFA1C9E8}"/>
              </a:ext>
            </a:extLst>
          </p:cNvPr>
          <p:cNvSpPr txBox="1">
            <a:spLocks/>
          </p:cNvSpPr>
          <p:nvPr/>
        </p:nvSpPr>
        <p:spPr>
          <a:xfrm>
            <a:off x="2470039" y="4167182"/>
            <a:ext cx="172663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b="1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latin typeface="+mn-lt"/>
              </a:rPr>
              <a:t>System Test Log</a:t>
            </a:r>
            <a:endParaRPr lang="en-GB" sz="1800" dirty="0">
              <a:latin typeface="+mn-lt"/>
            </a:endParaRPr>
          </a:p>
        </p:txBody>
      </p:sp>
      <p:pic>
        <p:nvPicPr>
          <p:cNvPr id="65" name="Graphic 64" descr="Table">
            <a:extLst>
              <a:ext uri="{FF2B5EF4-FFF2-40B4-BE49-F238E27FC236}">
                <a16:creationId xmlns:a16="http://schemas.microsoft.com/office/drawing/2014/main" id="{7E951992-E43E-477C-9B34-EEB1AF0D3E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18915" y="4542143"/>
            <a:ext cx="628877" cy="628877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F37349D-8D9D-499C-8F39-7146ED4F2E5E}"/>
              </a:ext>
            </a:extLst>
          </p:cNvPr>
          <p:cNvSpPr txBox="1"/>
          <p:nvPr/>
        </p:nvSpPr>
        <p:spPr>
          <a:xfrm>
            <a:off x="5452422" y="4067560"/>
            <a:ext cx="4105644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Training Log Variants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/>
              <a:t>⊆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Simulated Log</a:t>
            </a:r>
          </a:p>
          <a:p>
            <a:r>
              <a:rPr lang="en-US" b="1" dirty="0"/>
              <a:t>→ System Fitness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Simulated Log Variants </a:t>
            </a:r>
            <a:r>
              <a:rPr lang="en-US" b="1" dirty="0"/>
              <a:t>⊆ </a:t>
            </a:r>
            <a:r>
              <a:rPr lang="en-US" b="1" dirty="0">
                <a:solidFill>
                  <a:srgbClr val="00B0F0"/>
                </a:solidFill>
              </a:rPr>
              <a:t>System Log</a:t>
            </a:r>
          </a:p>
          <a:p>
            <a:r>
              <a:rPr lang="en-US" b="1" dirty="0"/>
              <a:t>→ System Precision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C0099"/>
                </a:solidFill>
              </a:rPr>
              <a:t>System Test Log Variants </a:t>
            </a:r>
            <a:r>
              <a:rPr lang="en-US" b="1" dirty="0"/>
              <a:t>⊆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Simulated Log</a:t>
            </a:r>
          </a:p>
          <a:p>
            <a:r>
              <a:rPr lang="en-US" b="1" dirty="0"/>
              <a:t>→ System Generalization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D3D4684-D6FA-41AD-B983-DE838DF1F055}"/>
              </a:ext>
            </a:extLst>
          </p:cNvPr>
          <p:cNvSpPr/>
          <p:nvPr/>
        </p:nvSpPr>
        <p:spPr>
          <a:xfrm>
            <a:off x="9810115" y="3688037"/>
            <a:ext cx="1599044" cy="140714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F0B12D6-91E3-4F27-9538-47CBF9D97CD1}"/>
              </a:ext>
            </a:extLst>
          </p:cNvPr>
          <p:cNvSpPr/>
          <p:nvPr/>
        </p:nvSpPr>
        <p:spPr>
          <a:xfrm>
            <a:off x="2518751" y="3951705"/>
            <a:ext cx="1599044" cy="140714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2975080-3B8E-4CBA-8BEC-FD38C6AD57CE}"/>
              </a:ext>
            </a:extLst>
          </p:cNvPr>
          <p:cNvSpPr/>
          <p:nvPr/>
        </p:nvSpPr>
        <p:spPr>
          <a:xfrm>
            <a:off x="5569701" y="996898"/>
            <a:ext cx="1599044" cy="140714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3A261FF-1E14-455B-8A42-A6F627018F9F}"/>
              </a:ext>
            </a:extLst>
          </p:cNvPr>
          <p:cNvSpPr/>
          <p:nvPr/>
        </p:nvSpPr>
        <p:spPr>
          <a:xfrm>
            <a:off x="786766" y="1774363"/>
            <a:ext cx="1599044" cy="140714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BDAF5-054C-4B66-AC2E-43BFBF4E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0E0EB-68BD-49E6-8D96-F22D766B7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035DC-97AF-49CA-B738-467C0CE4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A940A8-7650-4913-A16B-DE685487793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0880" y="956021"/>
            <a:ext cx="1393159" cy="28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5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7" grpId="0"/>
      <p:bldP spid="20" grpId="0"/>
      <p:bldP spid="22" grpId="0"/>
      <p:bldP spid="26" grpId="0" animBg="1"/>
      <p:bldP spid="27" grpId="0" animBg="1"/>
      <p:bldP spid="41" grpId="0"/>
      <p:bldP spid="46" grpId="0" animBg="1"/>
      <p:bldP spid="51" grpId="0" animBg="1"/>
      <p:bldP spid="64" grpId="0"/>
      <p:bldP spid="67" grpId="0" animBg="1"/>
      <p:bldP spid="68" grpId="0" animBg="1"/>
      <p:bldP spid="69" grpId="0" animBg="1"/>
      <p:bldP spid="69" grpId="1" animBg="1"/>
      <p:bldP spid="70" grpId="0" animBg="1"/>
      <p:bldP spid="7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3DC5-46A1-4080-9FE1-E7912F36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40435-A07F-4B5F-8B9B-D0941CB3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Improvement in generalization by variant-based validation selection b</a:t>
            </a:r>
            <a:r>
              <a:rPr lang="en-US" dirty="0" err="1"/>
              <a:t>reaks</a:t>
            </a:r>
            <a:r>
              <a:rPr lang="en-US" dirty="0"/>
              <a:t> down when process model too complex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We also notice a negative effect of event log incompleteness</a:t>
            </a:r>
          </a:p>
          <a:p>
            <a:pPr marL="457200" lvl="1" indent="0">
              <a:buNone/>
            </a:pPr>
            <a:r>
              <a:rPr lang="en-US" dirty="0"/>
              <a:t>→ Worse scores when the sample is smaller</a:t>
            </a:r>
          </a:p>
          <a:p>
            <a:pPr marL="457200" lvl="1" indent="0">
              <a:buNone/>
            </a:pPr>
            <a:r>
              <a:rPr lang="en-US" dirty="0"/>
              <a:t>→ Most noticeable when the process is more complex</a:t>
            </a:r>
          </a:p>
          <a:p>
            <a:pPr lvl="1"/>
            <a:endParaRPr lang="en-US" dirty="0"/>
          </a:p>
          <a:p>
            <a:r>
              <a:rPr lang="en-US" dirty="0"/>
              <a:t>Results “system metrics” in line with original metrics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99626-A8A0-457E-96E6-B89340ED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F8CCE-5704-4524-892C-4865E2E5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2305-0503-4BA2-B0D4-69ADB7093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2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E29A1-1EF0-4F3C-A9F0-EC37578E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B6ED-7399-48FF-BFD3-27014E01C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961" y="1825625"/>
            <a:ext cx="10761785" cy="4351338"/>
          </a:xfrm>
        </p:spPr>
        <p:txBody>
          <a:bodyPr>
            <a:normAutofit/>
          </a:bodyPr>
          <a:lstStyle/>
          <a:p>
            <a:r>
              <a:rPr lang="en-GB" dirty="0"/>
              <a:t>Positive effect variant-based validation set resampling to generalization  </a:t>
            </a:r>
          </a:p>
          <a:p>
            <a:pPr lvl="1"/>
            <a:r>
              <a:rPr lang="en-GB" dirty="0"/>
              <a:t>Mix of random + variant-based resampling seems a safe bet </a:t>
            </a:r>
          </a:p>
          <a:p>
            <a:pPr lvl="1"/>
            <a:r>
              <a:rPr lang="en-US" dirty="0"/>
              <a:t>Early stopping</a:t>
            </a:r>
          </a:p>
          <a:p>
            <a:pPr lvl="1"/>
            <a:r>
              <a:rPr lang="en-US" dirty="0"/>
              <a:t>Hyperparameters can also be manually tuned to increase learning capabilities</a:t>
            </a:r>
          </a:p>
          <a:p>
            <a:pPr lvl="1"/>
            <a:endParaRPr lang="en-US" dirty="0"/>
          </a:p>
          <a:p>
            <a:r>
              <a:rPr lang="en-US" dirty="0"/>
              <a:t>Clear limitations in terms of learning capabilities with increasing complexity and event log incompleteness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01635-79CB-4029-AC7B-D67426124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03/09/2024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FC7D3-7E88-4B23-B78E-1DA135B1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BPM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86CB7-226E-4D01-9FB2-48FCB2C1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4ED1-E95E-474D-A362-9E01E9569D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7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entation_PublicDefen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Presentation_PublicDefense</Template>
  <TotalTime>999</TotalTime>
  <Words>706</Words>
  <Application>Microsoft Office PowerPoint</Application>
  <PresentationFormat>Widescreen</PresentationFormat>
  <Paragraphs>178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CMU Concrete</vt:lpstr>
      <vt:lpstr>CMU Serif</vt:lpstr>
      <vt:lpstr>Presentation_PublicDefense</vt:lpstr>
      <vt:lpstr>Validation Set Sampling Strategies for Predictive Process Monitoring</vt:lpstr>
      <vt:lpstr>Introduction</vt:lpstr>
      <vt:lpstr>Metrics for next activity prediction models</vt:lpstr>
      <vt:lpstr>Metrics for next activity prediction models</vt:lpstr>
      <vt:lpstr>Validation Set Sampling</vt:lpstr>
      <vt:lpstr>Motivation</vt:lpstr>
      <vt:lpstr>New validation strategies</vt:lpstr>
      <vt:lpstr>New validation strategies</vt:lpstr>
      <vt:lpstr>Results validation approaches</vt:lpstr>
      <vt:lpstr>Log completeness experiments and “System Metrics”</vt:lpstr>
      <vt:lpstr>PowerPoint Presentation</vt:lpstr>
      <vt:lpstr>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Jari Peeperkorn</dc:creator>
  <cp:lastModifiedBy>Jari Peeperkorn</cp:lastModifiedBy>
  <cp:revision>48</cp:revision>
  <dcterms:created xsi:type="dcterms:W3CDTF">2024-01-23T13:37:18Z</dcterms:created>
  <dcterms:modified xsi:type="dcterms:W3CDTF">2026-04-15T11:59:40Z</dcterms:modified>
</cp:coreProperties>
</file>